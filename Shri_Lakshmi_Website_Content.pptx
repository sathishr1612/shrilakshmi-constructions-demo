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3bb53ec-267a-b982-a14c-411fd5a9c012}">
          <p14:sldIdLst>
            <p14:sldId id="256"/>
            <p14:sldId id="257"/>
          </p14:sldIdLst>
        </p14:section>
        <p14:section name="Home" id="{48f870e9-7c04-8b7a-b131-4aba359e6728}">
          <p14:sldIdLst>
            <p14:sldId id="258"/>
            <p14:sldId id="259"/>
            <p14:sldId id="260"/>
          </p14:sldIdLst>
        </p14:section>
        <p14:section name="About Us" id="{3c59b09c-41cc-c913-8bb2-a86ef1b51b84}">
          <p14:sldIdLst>
            <p14:sldId id="261"/>
            <p14:sldId id="262"/>
          </p14:sldIdLst>
        </p14:section>
        <p14:section name="Projects" id="{e79dbb87-9458-447e-d537-10656a9c77f3}">
          <p14:sldIdLst>
            <p14:sldId id="263"/>
            <p14:sldId id="264"/>
          </p14:sldIdLst>
        </p14:section>
        <p14:section name="Services" id="{ac366c1b-470f-a935-11a3-91871eb72af1}">
          <p14:sldIdLst>
            <p14:sldId id="265"/>
            <p14:sldId id="266"/>
          </p14:sldIdLst>
        </p14:section>
        <p14:section name="Contact Us" id="{aee2b6a8-823b-8d55-2787-c6d739236165}">
          <p14:sldIdLst>
            <p14:sldId id="267"/>
          </p14:sldIdLst>
        </p14:section>
        <p14:section name="Wrap-up" id="{535851e0-5ead-ebe9-d1b8-480bc241819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BRA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256032"/>
            <a:ext cx="411480" cy="429768"/>
          </a:xfrm>
          <a:prstGeom prst="rect">
            <a:avLst/>
          </a:prstGeom>
        </p:spPr>
      </p:pic>
      <p:sp>
        <p:nvSpPr>
          <p:cNvPr id="3" name="Text 0"/>
          <p:cNvSpPr/>
          <p:nvPr>
            <p:ph idx="101" type="title" hasCustomPrompt="1"/>
          </p:nvPr>
        </p:nvSpPr>
        <p:spPr>
          <a:xfrm>
            <a:off x="457200" y="566928"/>
            <a:ext cx="7589520" cy="548640"/>
          </a:xfrm>
          <a:prstGeom prst="rect">
            <a:avLst/>
          </a:prstGeom>
          <a:noFill/>
          <a:ln/>
        </p:spPr>
        <p:txBody>
          <a:bodyPr wrap="square" rtlCol="0"/>
          <a:lstStyle>
            <a:lvl1pPr algn="l" indent="0" marL="0">
              <a:buNone/>
              <a:defRPr lang="en-US" sz="2400" b="1" dirty="0">
                <a:solidFill>
                  <a:schemeClr val="tx2"/>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4"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chemeClr val="accent5"/>
                </a:solidFill>
              </a:rPr>
              <a:t>Shri Lakshmi Constructions &amp; Engineers  |  Website Content</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RA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046720" cy="914400"/>
          </a:xfrm>
          <a:prstGeom prst="rect">
            <a:avLst/>
          </a:prstGeom>
          <a:noFill/>
          <a:ln/>
        </p:spPr>
        <p:txBody>
          <a:bodyPr wrap="square" rtlCol="0"/>
          <a:lstStyle>
            <a:lvl1pPr algn="l" indent="0" marL="0">
              <a:buNone/>
              <a:defRPr lang="en-US" sz="3400" b="1" dirty="0">
                <a:solidFill>
                  <a:schemeClr val="bg1"/>
                </a:solidFill>
                <a:latin typeface="Arial" pitchFamily="34" charset="0"/>
                <a:ea typeface="Arial" pitchFamily="34" charset="-122"/>
                <a:cs typeface="Arial" pitchFamily="34" charset="-120"/>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card"/>
          <p:cNvSpPr/>
          <p:nvPr/>
        </p:nvSpPr>
        <p:spPr>
          <a:xfrm>
            <a:off x="548640" y="502920"/>
            <a:ext cx="1234440" cy="1234440"/>
          </a:xfrm>
          <a:prstGeom prst="roundRect">
            <a:avLst>
              <a:gd name="adj" fmla="val 5926"/>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640080" y="566928"/>
            <a:ext cx="1051560" cy="1097280"/>
          </a:xfrm>
          <a:prstGeom prst="rect">
            <a:avLst/>
          </a:prstGeom>
        </p:spPr>
      </p:pic>
      <p:sp>
        <p:nvSpPr>
          <p:cNvPr id="4" name="Text 0"/>
          <p:cNvSpPr/>
          <p:nvPr>
            <p:ph idx="100" type="title" hasCustomPrompt="1"/>
          </p:nvPr>
        </p:nvSpPr>
        <p:spPr>
          <a:xfrm>
            <a:off x="548640" y="2011680"/>
            <a:ext cx="8046720" cy="914400"/>
          </a:xfrm>
          <a:prstGeom prst="rect">
            <a:avLst/>
          </a:prstGeom>
          <a:noFill/>
          <a:ln/>
        </p:spPr>
        <p:txBody>
          <a:bodyPr wrap="square" lIns="0" tIns="0" rIns="0" bIns="0" rtlCol="0" anchor="t"/>
          <a:lstStyle/>
          <a:p>
            <a:pPr algn="l" indent="0" marL="0">
              <a:buNone/>
            </a:pPr>
            <a:r>
              <a:rPr lang="en-US" sz="3400" b="1" dirty="0">
                <a:solidFill>
                  <a:schemeClr val="bg1"/>
                </a:solidFill>
                <a:latin typeface="Arial" pitchFamily="34" charset="0"/>
                <a:ea typeface="Arial" pitchFamily="34" charset="-122"/>
                <a:cs typeface="Arial" pitchFamily="34" charset="-120"/>
              </a:rPr>
              <a:t>Website Content</a:t>
            </a:r>
            <a:endParaRPr lang="en-US" sz="3400" dirty="0"/>
          </a:p>
        </p:txBody>
      </p:sp>
      <p:sp>
        <p:nvSpPr>
          <p:cNvPr id="5" name="Text 2"/>
          <p:cNvSpPr txBox="1"/>
          <p:nvPr/>
        </p:nvSpPr>
        <p:spPr>
          <a:xfrm>
            <a:off x="548640" y="2880360"/>
            <a:ext cx="8046720" cy="457200"/>
          </a:xfrm>
          <a:prstGeom prst="rect">
            <a:avLst/>
          </a:prstGeom>
          <a:noFill/>
          <a:ln/>
        </p:spPr>
        <p:txBody>
          <a:bodyPr wrap="square" lIns="0" tIns="0" rIns="0" bIns="0" rtlCol="0" anchor="t"/>
          <a:lstStyle/>
          <a:p>
            <a:pPr indent="0" marL="0">
              <a:buNone/>
            </a:pPr>
            <a:r>
              <a:rPr lang="en-US" sz="2000" dirty="0">
                <a:solidFill>
                  <a:srgbClr val="E9E3F5"/>
                </a:solidFill>
                <a:latin typeface="Arial" pitchFamily="34" charset="0"/>
                <a:ea typeface="Arial" pitchFamily="34" charset="-122"/>
                <a:cs typeface="Arial" pitchFamily="34" charset="-120"/>
              </a:rPr>
              <a:t>Shri Lakshmi Constructions &amp; Engineers</a:t>
            </a:r>
            <a:endParaRPr lang="en-US" sz="2000" dirty="0"/>
          </a:p>
        </p:txBody>
      </p:sp>
      <p:sp>
        <p:nvSpPr>
          <p:cNvPr id="6" name="Text 3"/>
          <p:cNvSpPr txBox="1"/>
          <p:nvPr/>
        </p:nvSpPr>
        <p:spPr>
          <a:xfrm>
            <a:off x="548640" y="3383280"/>
            <a:ext cx="8046720" cy="36576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Home  ·  About Us  ·  Projects  ·  Services  ·  Contact Us</a:t>
            </a:r>
            <a:endParaRPr lang="en-US" sz="1400" dirty="0"/>
          </a:p>
        </p:txBody>
      </p:sp>
      <p:sp>
        <p:nvSpPr>
          <p:cNvPr id="7" name="Text 4"/>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100" dirty="0">
                <a:solidFill>
                  <a:srgbClr val="E9E3F5"/>
                </a:solidFill>
                <a:latin typeface="Calibri" pitchFamily="34" charset="0"/>
                <a:ea typeface="Calibri" pitchFamily="34" charset="-122"/>
                <a:cs typeface="Calibri" pitchFamily="34" charset="-120"/>
              </a:rPr>
              <a:t>Prepared by Manasa Venkatram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SITE MAP</a:t>
            </a:r>
            <a:endParaRPr lang="en-US" sz="1000" dirty="0"/>
          </a:p>
        </p:txBody>
      </p:sp>
      <p:sp>
        <p:nvSpPr>
          <p:cNvPr id="4"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Five pages, one clear path to an enquiry</a:t>
            </a:r>
            <a:endParaRPr lang="en-US" sz="2400" dirty="0"/>
          </a:p>
        </p:txBody>
      </p:sp>
      <p:sp>
        <p:nvSpPr>
          <p:cNvPr id="5" name="pg0"/>
          <p:cNvSpPr/>
          <p:nvPr/>
        </p:nvSpPr>
        <p:spPr>
          <a:xfrm>
            <a:off x="457200" y="1325880"/>
            <a:ext cx="1536192" cy="2148840"/>
          </a:xfrm>
          <a:prstGeom prst="roundRect">
            <a:avLst>
              <a:gd name="adj" fmla="val 4762"/>
            </a:avLst>
          </a:prstGeom>
          <a:solidFill>
            <a:srgbClr val="F4F1FA"/>
          </a:solidFill>
          <a:ln w="12700">
            <a:solidFill>
              <a:srgbClr val="F4F1FA"/>
            </a:solidFill>
            <a:prstDash val="solid"/>
          </a:ln>
        </p:spPr>
      </p:sp>
      <p:sp>
        <p:nvSpPr>
          <p:cNvPr id="6" name="pgi0"/>
          <p:cNvSpPr/>
          <p:nvPr/>
        </p:nvSpPr>
        <p:spPr>
          <a:xfrm>
            <a:off x="950976" y="1481328"/>
            <a:ext cx="548640" cy="548640"/>
          </a:xfrm>
          <a:prstGeom prst="ellipse">
            <a:avLst/>
          </a:prstGeom>
          <a:solidFill>
            <a:srgbClr val="6A45A6"/>
          </a:solidFill>
          <a:ln w="12700">
            <a:solidFill>
              <a:srgbClr val="6A45A6"/>
            </a:solidFill>
            <a:prstDash val="solid"/>
          </a:ln>
        </p:spPr>
      </p:sp>
      <p:pic>
        <p:nvPicPr>
          <p:cNvPr id="7" name="Image 0" descr="preencoded.png">    </p:cNvPr>
          <p:cNvPicPr>
            <a:picLocks noChangeAspect="1"/>
          </p:cNvPicPr>
          <p:nvPr/>
        </p:nvPicPr>
        <p:blipFill>
          <a:blip r:embed="rId1"/>
          <a:stretch>
            <a:fillRect/>
          </a:stretch>
        </p:blipFill>
        <p:spPr>
          <a:xfrm>
            <a:off x="1088136" y="1618488"/>
            <a:ext cx="274320" cy="274320"/>
          </a:xfrm>
          <a:prstGeom prst="rect">
            <a:avLst/>
          </a:prstGeom>
        </p:spPr>
      </p:pic>
      <p:sp>
        <p:nvSpPr>
          <p:cNvPr id="8" name="Text 5"/>
          <p:cNvSpPr txBox="1"/>
          <p:nvPr/>
        </p:nvSpPr>
        <p:spPr>
          <a:xfrm>
            <a:off x="548640" y="2121408"/>
            <a:ext cx="1353312" cy="32004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Home</a:t>
            </a:r>
            <a:endParaRPr lang="en-US" sz="1400" dirty="0"/>
          </a:p>
        </p:txBody>
      </p:sp>
      <p:sp>
        <p:nvSpPr>
          <p:cNvPr id="9" name="Text 6"/>
          <p:cNvSpPr txBox="1"/>
          <p:nvPr/>
        </p:nvSpPr>
        <p:spPr>
          <a:xfrm>
            <a:off x="594360" y="2487168"/>
            <a:ext cx="1261872" cy="9144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Hero, why us, services, projects, testimonials, CTA</a:t>
            </a:r>
            <a:endParaRPr lang="en-US" sz="1100" dirty="0"/>
          </a:p>
        </p:txBody>
      </p:sp>
      <p:sp>
        <p:nvSpPr>
          <p:cNvPr id="10" name="pg1"/>
          <p:cNvSpPr/>
          <p:nvPr/>
        </p:nvSpPr>
        <p:spPr>
          <a:xfrm>
            <a:off x="2130552" y="1325880"/>
            <a:ext cx="1536192" cy="2148840"/>
          </a:xfrm>
          <a:prstGeom prst="roundRect">
            <a:avLst>
              <a:gd name="adj" fmla="val 4762"/>
            </a:avLst>
          </a:prstGeom>
          <a:solidFill>
            <a:srgbClr val="F4F1FA"/>
          </a:solidFill>
          <a:ln w="12700">
            <a:solidFill>
              <a:srgbClr val="F4F1FA"/>
            </a:solidFill>
            <a:prstDash val="solid"/>
          </a:ln>
        </p:spPr>
      </p:sp>
      <p:sp>
        <p:nvSpPr>
          <p:cNvPr id="11" name="pgi1"/>
          <p:cNvSpPr/>
          <p:nvPr/>
        </p:nvSpPr>
        <p:spPr>
          <a:xfrm>
            <a:off x="2624328" y="1481328"/>
            <a:ext cx="548640" cy="548640"/>
          </a:xfrm>
          <a:prstGeom prst="ellipse">
            <a:avLst/>
          </a:prstGeom>
          <a:solidFill>
            <a:srgbClr val="6A45A6"/>
          </a:solidFill>
          <a:ln w="12700">
            <a:solidFill>
              <a:srgbClr val="6A45A6"/>
            </a:solidFill>
            <a:prstDash val="solid"/>
          </a:ln>
        </p:spPr>
      </p:sp>
      <p:pic>
        <p:nvPicPr>
          <p:cNvPr id="12" name="Image 1" descr="preencoded.png">    </p:cNvPr>
          <p:cNvPicPr>
            <a:picLocks noChangeAspect="1"/>
          </p:cNvPicPr>
          <p:nvPr/>
        </p:nvPicPr>
        <p:blipFill>
          <a:blip r:embed="rId2"/>
          <a:stretch>
            <a:fillRect/>
          </a:stretch>
        </p:blipFill>
        <p:spPr>
          <a:xfrm>
            <a:off x="2761488" y="1618488"/>
            <a:ext cx="274320" cy="274320"/>
          </a:xfrm>
          <a:prstGeom prst="rect">
            <a:avLst/>
          </a:prstGeom>
        </p:spPr>
      </p:pic>
      <p:sp>
        <p:nvSpPr>
          <p:cNvPr id="13" name="Text 9"/>
          <p:cNvSpPr txBox="1"/>
          <p:nvPr/>
        </p:nvSpPr>
        <p:spPr>
          <a:xfrm>
            <a:off x="2221992" y="2121408"/>
            <a:ext cx="1353312" cy="32004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About Us</a:t>
            </a:r>
            <a:endParaRPr lang="en-US" sz="1400" dirty="0"/>
          </a:p>
        </p:txBody>
      </p:sp>
      <p:sp>
        <p:nvSpPr>
          <p:cNvPr id="14" name="Text 10"/>
          <p:cNvSpPr txBox="1"/>
          <p:nvPr/>
        </p:nvSpPr>
        <p:spPr>
          <a:xfrm>
            <a:off x="2267712" y="2487168"/>
            <a:ext cx="1261872" cy="9144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Story, vision, mission, values, approach</a:t>
            </a:r>
            <a:endParaRPr lang="en-US" sz="1100" dirty="0"/>
          </a:p>
        </p:txBody>
      </p:sp>
      <p:sp>
        <p:nvSpPr>
          <p:cNvPr id="15" name="pg2"/>
          <p:cNvSpPr/>
          <p:nvPr/>
        </p:nvSpPr>
        <p:spPr>
          <a:xfrm>
            <a:off x="3803904" y="1325880"/>
            <a:ext cx="1536192" cy="2148840"/>
          </a:xfrm>
          <a:prstGeom prst="roundRect">
            <a:avLst>
              <a:gd name="adj" fmla="val 4762"/>
            </a:avLst>
          </a:prstGeom>
          <a:solidFill>
            <a:srgbClr val="F4F1FA"/>
          </a:solidFill>
          <a:ln w="12700">
            <a:solidFill>
              <a:srgbClr val="F4F1FA"/>
            </a:solidFill>
            <a:prstDash val="solid"/>
          </a:ln>
        </p:spPr>
      </p:sp>
      <p:sp>
        <p:nvSpPr>
          <p:cNvPr id="16" name="pgi2"/>
          <p:cNvSpPr/>
          <p:nvPr/>
        </p:nvSpPr>
        <p:spPr>
          <a:xfrm>
            <a:off x="4297680" y="1481328"/>
            <a:ext cx="548640" cy="548640"/>
          </a:xfrm>
          <a:prstGeom prst="ellipse">
            <a:avLst/>
          </a:prstGeom>
          <a:solidFill>
            <a:srgbClr val="6A45A6"/>
          </a:solidFill>
          <a:ln w="12700">
            <a:solidFill>
              <a:srgbClr val="6A45A6"/>
            </a:solidFill>
            <a:prstDash val="solid"/>
          </a:ln>
        </p:spPr>
      </p:sp>
      <p:pic>
        <p:nvPicPr>
          <p:cNvPr id="17" name="Image 2" descr="preencoded.png">    </p:cNvPr>
          <p:cNvPicPr>
            <a:picLocks noChangeAspect="1"/>
          </p:cNvPicPr>
          <p:nvPr/>
        </p:nvPicPr>
        <p:blipFill>
          <a:blip r:embed="rId3"/>
          <a:stretch>
            <a:fillRect/>
          </a:stretch>
        </p:blipFill>
        <p:spPr>
          <a:xfrm>
            <a:off x="4434840" y="1618488"/>
            <a:ext cx="274320" cy="274320"/>
          </a:xfrm>
          <a:prstGeom prst="rect">
            <a:avLst/>
          </a:prstGeom>
        </p:spPr>
      </p:pic>
      <p:sp>
        <p:nvSpPr>
          <p:cNvPr id="18" name="Text 13"/>
          <p:cNvSpPr txBox="1"/>
          <p:nvPr/>
        </p:nvSpPr>
        <p:spPr>
          <a:xfrm>
            <a:off x="3895344" y="2121408"/>
            <a:ext cx="1353312" cy="32004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Projects</a:t>
            </a:r>
            <a:endParaRPr lang="en-US" sz="1400" dirty="0"/>
          </a:p>
        </p:txBody>
      </p:sp>
      <p:sp>
        <p:nvSpPr>
          <p:cNvPr id="19" name="Text 14"/>
          <p:cNvSpPr txBox="1"/>
          <p:nvPr/>
        </p:nvSpPr>
        <p:spPr>
          <a:xfrm>
            <a:off x="3941064" y="2487168"/>
            <a:ext cx="1261872" cy="9144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Ongoing, completed, upcoming; detail pages</a:t>
            </a:r>
            <a:endParaRPr lang="en-US" sz="1100" dirty="0"/>
          </a:p>
        </p:txBody>
      </p:sp>
      <p:sp>
        <p:nvSpPr>
          <p:cNvPr id="20" name="pg3"/>
          <p:cNvSpPr/>
          <p:nvPr/>
        </p:nvSpPr>
        <p:spPr>
          <a:xfrm>
            <a:off x="5477256" y="1325880"/>
            <a:ext cx="1536192" cy="2148840"/>
          </a:xfrm>
          <a:prstGeom prst="roundRect">
            <a:avLst>
              <a:gd name="adj" fmla="val 4762"/>
            </a:avLst>
          </a:prstGeom>
          <a:solidFill>
            <a:srgbClr val="F4F1FA"/>
          </a:solidFill>
          <a:ln w="12700">
            <a:solidFill>
              <a:srgbClr val="F4F1FA"/>
            </a:solidFill>
            <a:prstDash val="solid"/>
          </a:ln>
        </p:spPr>
      </p:sp>
      <p:sp>
        <p:nvSpPr>
          <p:cNvPr id="21" name="pgi3"/>
          <p:cNvSpPr/>
          <p:nvPr/>
        </p:nvSpPr>
        <p:spPr>
          <a:xfrm>
            <a:off x="5971032" y="1481328"/>
            <a:ext cx="548640" cy="548640"/>
          </a:xfrm>
          <a:prstGeom prst="ellipse">
            <a:avLst/>
          </a:prstGeom>
          <a:solidFill>
            <a:srgbClr val="6A45A6"/>
          </a:solidFill>
          <a:ln w="12700">
            <a:solidFill>
              <a:srgbClr val="6A45A6"/>
            </a:solidFill>
            <a:prstDash val="solid"/>
          </a:ln>
        </p:spPr>
      </p:sp>
      <p:pic>
        <p:nvPicPr>
          <p:cNvPr id="22" name="Image 3" descr="preencoded.png">    </p:cNvPr>
          <p:cNvPicPr>
            <a:picLocks noChangeAspect="1"/>
          </p:cNvPicPr>
          <p:nvPr/>
        </p:nvPicPr>
        <p:blipFill>
          <a:blip r:embed="rId4"/>
          <a:stretch>
            <a:fillRect/>
          </a:stretch>
        </p:blipFill>
        <p:spPr>
          <a:xfrm>
            <a:off x="6108192" y="1618488"/>
            <a:ext cx="274320" cy="274320"/>
          </a:xfrm>
          <a:prstGeom prst="rect">
            <a:avLst/>
          </a:prstGeom>
        </p:spPr>
      </p:pic>
      <p:sp>
        <p:nvSpPr>
          <p:cNvPr id="23" name="Text 17"/>
          <p:cNvSpPr txBox="1"/>
          <p:nvPr/>
        </p:nvSpPr>
        <p:spPr>
          <a:xfrm>
            <a:off x="5568696" y="2121408"/>
            <a:ext cx="1353312" cy="32004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Services</a:t>
            </a:r>
            <a:endParaRPr lang="en-US" sz="1400" dirty="0"/>
          </a:p>
        </p:txBody>
      </p:sp>
      <p:sp>
        <p:nvSpPr>
          <p:cNvPr id="24" name="Text 18"/>
          <p:cNvSpPr txBox="1"/>
          <p:nvPr/>
        </p:nvSpPr>
        <p:spPr>
          <a:xfrm>
            <a:off x="5614416" y="2487168"/>
            <a:ext cx="1261872" cy="9144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Eight services, process, FAQs</a:t>
            </a:r>
            <a:endParaRPr lang="en-US" sz="1100" dirty="0"/>
          </a:p>
        </p:txBody>
      </p:sp>
      <p:sp>
        <p:nvSpPr>
          <p:cNvPr id="25" name="pg4"/>
          <p:cNvSpPr/>
          <p:nvPr/>
        </p:nvSpPr>
        <p:spPr>
          <a:xfrm>
            <a:off x="7150608" y="1325880"/>
            <a:ext cx="1536192" cy="2148840"/>
          </a:xfrm>
          <a:prstGeom prst="roundRect">
            <a:avLst>
              <a:gd name="adj" fmla="val 4762"/>
            </a:avLst>
          </a:prstGeom>
          <a:solidFill>
            <a:srgbClr val="F4F1FA"/>
          </a:solidFill>
          <a:ln w="12700">
            <a:solidFill>
              <a:srgbClr val="F4F1FA"/>
            </a:solidFill>
            <a:prstDash val="solid"/>
          </a:ln>
        </p:spPr>
      </p:sp>
      <p:sp>
        <p:nvSpPr>
          <p:cNvPr id="26" name="pgi4"/>
          <p:cNvSpPr/>
          <p:nvPr/>
        </p:nvSpPr>
        <p:spPr>
          <a:xfrm>
            <a:off x="7644384" y="1481328"/>
            <a:ext cx="548640" cy="548640"/>
          </a:xfrm>
          <a:prstGeom prst="ellipse">
            <a:avLst/>
          </a:prstGeom>
          <a:solidFill>
            <a:srgbClr val="6A45A6"/>
          </a:solidFill>
          <a:ln w="12700">
            <a:solidFill>
              <a:srgbClr val="6A45A6"/>
            </a:solidFill>
            <a:prstDash val="solid"/>
          </a:ln>
        </p:spPr>
      </p:sp>
      <p:pic>
        <p:nvPicPr>
          <p:cNvPr id="27" name="Image 4" descr="preencoded.png">    </p:cNvPr>
          <p:cNvPicPr>
            <a:picLocks noChangeAspect="1"/>
          </p:cNvPicPr>
          <p:nvPr/>
        </p:nvPicPr>
        <p:blipFill>
          <a:blip r:embed="rId5"/>
          <a:stretch>
            <a:fillRect/>
          </a:stretch>
        </p:blipFill>
        <p:spPr>
          <a:xfrm>
            <a:off x="7781544" y="1618488"/>
            <a:ext cx="274320" cy="274320"/>
          </a:xfrm>
          <a:prstGeom prst="rect">
            <a:avLst/>
          </a:prstGeom>
        </p:spPr>
      </p:pic>
      <p:sp>
        <p:nvSpPr>
          <p:cNvPr id="28" name="Text 21"/>
          <p:cNvSpPr txBox="1"/>
          <p:nvPr/>
        </p:nvSpPr>
        <p:spPr>
          <a:xfrm>
            <a:off x="7242048" y="2121408"/>
            <a:ext cx="1353312" cy="32004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Contact Us</a:t>
            </a:r>
            <a:endParaRPr lang="en-US" sz="1400" dirty="0"/>
          </a:p>
        </p:txBody>
      </p:sp>
      <p:sp>
        <p:nvSpPr>
          <p:cNvPr id="29" name="Text 22"/>
          <p:cNvSpPr txBox="1"/>
          <p:nvPr/>
        </p:nvSpPr>
        <p:spPr>
          <a:xfrm>
            <a:off x="7287768" y="2487168"/>
            <a:ext cx="1261872" cy="91440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Details, enquiry form, map, hours</a:t>
            </a:r>
            <a:endParaRPr lang="en-US" sz="1100" dirty="0"/>
          </a:p>
        </p:txBody>
      </p:sp>
      <p:sp>
        <p:nvSpPr>
          <p:cNvPr id="30" name="global"/>
          <p:cNvSpPr/>
          <p:nvPr/>
        </p:nvSpPr>
        <p:spPr>
          <a:xfrm>
            <a:off x="457200" y="3703320"/>
            <a:ext cx="8229600" cy="868680"/>
          </a:xfrm>
          <a:prstGeom prst="roundRect">
            <a:avLst>
              <a:gd name="adj" fmla="val 8421"/>
            </a:avLst>
          </a:prstGeom>
          <a:solidFill>
            <a:srgbClr val="1F1F5C"/>
          </a:solidFill>
          <a:ln w="12700">
            <a:solidFill>
              <a:srgbClr val="1F1F5C"/>
            </a:solidFill>
            <a:prstDash val="solid"/>
          </a:ln>
        </p:spPr>
      </p:sp>
      <p:sp>
        <p:nvSpPr>
          <p:cNvPr id="31" name="Text 24"/>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300" b="1" dirty="0">
                <a:solidFill>
                  <a:srgbClr val="C9B6EA"/>
                </a:solidFill>
                <a:latin typeface="Calibri" pitchFamily="34" charset="0"/>
                <a:ea typeface="Calibri" pitchFamily="34" charset="-122"/>
                <a:cs typeface="Calibri" pitchFamily="34" charset="-120"/>
              </a:rPr>
              <a:t>On every page:  </a:t>
            </a:r>
            <a:pPr indent="0" marL="0">
              <a:buNone/>
            </a:pPr>
            <a:r>
              <a:rPr lang="en-US" sz="1300" dirty="0">
                <a:solidFill>
                  <a:schemeClr val="bg1"/>
                </a:solidFill>
                <a:latin typeface="Calibri" pitchFamily="34" charset="0"/>
                <a:ea typeface="Calibri" pitchFamily="34" charset="-122"/>
                <a:cs typeface="Calibri" pitchFamily="34" charset="-120"/>
              </a:rPr>
              <a:t>sticky header with logo and menu · “Enquire Now” button · click-to-call and WhatsApp buttons · common footer with address, links and social media</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HOME</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Section 1 · Hero banner</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Building Trust, Floor by Floor</a:t>
            </a:r>
            <a:endParaRPr lang="en-US" sz="2400" dirty="0"/>
          </a:p>
        </p:txBody>
      </p:sp>
      <p:pic>
        <p:nvPicPr>
          <p:cNvPr id="6" name="Image 0" descr="preencoded.png">    </p:cNvPr>
          <p:cNvPicPr>
            <a:picLocks noChangeAspect="1"/>
          </p:cNvPicPr>
          <p:nvPr/>
        </p:nvPicPr>
        <p:blipFill>
          <a:blip r:embed="rId1"/>
          <a:stretch>
            <a:fillRect/>
          </a:stretch>
        </p:blipFill>
        <p:spPr>
          <a:xfrm>
            <a:off x="457200" y="1280160"/>
            <a:ext cx="5120640" cy="3291840"/>
          </a:xfrm>
          <a:prstGeom prst="rect">
            <a:avLst/>
          </a:prstGeom>
        </p:spPr>
      </p:pic>
      <p:sp>
        <p:nvSpPr>
          <p:cNvPr id="7" name="Text 4"/>
          <p:cNvSpPr txBox="1"/>
          <p:nvPr/>
        </p:nvSpPr>
        <p:spPr>
          <a:xfrm>
            <a:off x="731520" y="1463040"/>
            <a:ext cx="2743200" cy="228600"/>
          </a:xfrm>
          <a:prstGeom prst="rect">
            <a:avLst/>
          </a:prstGeom>
          <a:noFill/>
          <a:ln/>
        </p:spPr>
        <p:txBody>
          <a:bodyPr wrap="square" lIns="0" tIns="0" rIns="0" bIns="0" rtlCol="0" anchor="t"/>
          <a:lstStyle/>
          <a:p>
            <a:pPr indent="0" marL="0">
              <a:buNone/>
            </a:pPr>
            <a:r>
              <a:rPr lang="en-US" sz="1000" b="1" spc="100" kern="0" dirty="0">
                <a:solidFill>
                  <a:srgbClr val="E9E3F5"/>
                </a:solidFill>
                <a:latin typeface="Calibri" pitchFamily="34" charset="0"/>
                <a:ea typeface="Calibri" pitchFamily="34" charset="-122"/>
                <a:cs typeface="Calibri" pitchFamily="34" charset="-120"/>
              </a:rPr>
              <a:t>HERO BANNER</a:t>
            </a:r>
            <a:endParaRPr lang="en-US" sz="1000" dirty="0"/>
          </a:p>
        </p:txBody>
      </p:sp>
      <p:sp>
        <p:nvSpPr>
          <p:cNvPr id="8" name="Text 5"/>
          <p:cNvSpPr txBox="1"/>
          <p:nvPr/>
        </p:nvSpPr>
        <p:spPr>
          <a:xfrm>
            <a:off x="731520" y="1783080"/>
            <a:ext cx="4572000" cy="54864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Building Trust, Floor by Floor</a:t>
            </a:r>
            <a:endParaRPr lang="en-US" sz="2400" dirty="0"/>
          </a:p>
        </p:txBody>
      </p:sp>
      <p:sp>
        <p:nvSpPr>
          <p:cNvPr id="9" name="Text 6"/>
          <p:cNvSpPr txBox="1"/>
          <p:nvPr/>
        </p:nvSpPr>
        <p:spPr>
          <a:xfrm>
            <a:off x="731520" y="2423160"/>
            <a:ext cx="4572000" cy="685800"/>
          </a:xfrm>
          <a:prstGeom prst="rect">
            <a:avLst/>
          </a:prstGeom>
          <a:noFill/>
          <a:ln/>
        </p:spPr>
        <p:txBody>
          <a:bodyPr wrap="square" lIns="0" tIns="0" rIns="0" bIns="0" rtlCol="0" anchor="t"/>
          <a:lstStyle/>
          <a:p>
            <a:pPr indent="0" marL="0">
              <a:buNone/>
            </a:pPr>
            <a:r>
              <a:rPr lang="en-US" sz="1400" dirty="0">
                <a:solidFill>
                  <a:srgbClr val="F1ECFA"/>
                </a:solidFill>
                <a:latin typeface="Calibri" pitchFamily="34" charset="0"/>
                <a:ea typeface="Calibri" pitchFamily="34" charset="-122"/>
                <a:cs typeface="Calibri" pitchFamily="34" charset="-120"/>
              </a:rPr>
              <a:t>Quality homes and commercial spaces in Bengaluru, engineered to last and delivered on time.</a:t>
            </a:r>
            <a:endParaRPr lang="en-US" sz="1400" dirty="0"/>
          </a:p>
        </p:txBody>
      </p:sp>
      <p:sp>
        <p:nvSpPr>
          <p:cNvPr id="10" name="cta1"/>
          <p:cNvSpPr/>
          <p:nvPr/>
        </p:nvSpPr>
        <p:spPr>
          <a:xfrm>
            <a:off x="731520" y="3337560"/>
            <a:ext cx="1600200" cy="411480"/>
          </a:xfrm>
          <a:prstGeom prst="roundRect">
            <a:avLst>
              <a:gd name="adj" fmla="val 17778"/>
            </a:avLst>
          </a:prstGeom>
          <a:solidFill>
            <a:srgbClr val="FFFFFF"/>
          </a:solidFill>
          <a:ln w="12700">
            <a:solidFill>
              <a:srgbClr val="FFFFFF"/>
            </a:solidFill>
            <a:prstDash val="solid"/>
          </a:ln>
        </p:spPr>
      </p:sp>
      <p:sp>
        <p:nvSpPr>
          <p:cNvPr id="11" name="Text 8"/>
          <p:cNvSpPr txBox="1"/>
          <p:nvPr/>
        </p:nvSpPr>
        <p:spPr>
          <a:xfrm>
            <a:off x="731520" y="3337560"/>
            <a:ext cx="1600200" cy="411480"/>
          </a:xfrm>
          <a:prstGeom prst="rect">
            <a:avLst/>
          </a:prstGeom>
          <a:noFill/>
          <a:ln/>
        </p:spPr>
        <p:txBody>
          <a:bodyPr wrap="square" lIns="0" tIns="0" rIns="0" bIns="0" rtlCol="0" anchor="ctr"/>
          <a:lstStyle/>
          <a:p>
            <a:pPr algn="ctr" indent="0" marL="0">
              <a:buNone/>
            </a:pPr>
            <a:r>
              <a:rPr lang="en-US" sz="1200" b="1" dirty="0">
                <a:solidFill>
                  <a:srgbClr val="6A45A6"/>
                </a:solidFill>
                <a:latin typeface="Calibri" pitchFamily="34" charset="0"/>
                <a:ea typeface="Calibri" pitchFamily="34" charset="-122"/>
                <a:cs typeface="Calibri" pitchFamily="34" charset="-120"/>
              </a:rPr>
              <a:t>View Our Projects</a:t>
            </a:r>
            <a:endParaRPr lang="en-US" sz="1200" dirty="0"/>
          </a:p>
        </p:txBody>
      </p:sp>
      <p:sp>
        <p:nvSpPr>
          <p:cNvPr id="12" name="cta2"/>
          <p:cNvSpPr/>
          <p:nvPr/>
        </p:nvSpPr>
        <p:spPr>
          <a:xfrm>
            <a:off x="2514600" y="3337560"/>
            <a:ext cx="1600200" cy="411480"/>
          </a:xfrm>
          <a:prstGeom prst="roundRect">
            <a:avLst>
              <a:gd name="adj" fmla="val 17778"/>
            </a:avLst>
          </a:prstGeom>
          <a:solidFill>
            <a:srgbClr val="1F1F5C"/>
          </a:solidFill>
          <a:ln w="12700">
            <a:solidFill>
              <a:srgbClr val="FFFFFF"/>
            </a:solidFill>
            <a:prstDash val="solid"/>
          </a:ln>
        </p:spPr>
      </p:sp>
      <p:sp>
        <p:nvSpPr>
          <p:cNvPr id="13" name="Text 10"/>
          <p:cNvSpPr txBox="1"/>
          <p:nvPr/>
        </p:nvSpPr>
        <p:spPr>
          <a:xfrm>
            <a:off x="2514600" y="3337560"/>
            <a:ext cx="1600200" cy="41148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Get a Free Quote</a:t>
            </a:r>
            <a:endParaRPr lang="en-US" sz="1200" dirty="0"/>
          </a:p>
        </p:txBody>
      </p:sp>
      <p:sp>
        <p:nvSpPr>
          <p:cNvPr id="14" name="Text 11"/>
          <p:cNvSpPr txBox="1"/>
          <p:nvPr/>
        </p:nvSpPr>
        <p:spPr>
          <a:xfrm>
            <a:off x="731520" y="4023360"/>
            <a:ext cx="4572000" cy="274320"/>
          </a:xfrm>
          <a:prstGeom prst="rect">
            <a:avLst/>
          </a:prstGeom>
          <a:noFill/>
          <a:ln/>
        </p:spPr>
        <p:txBody>
          <a:bodyPr wrap="square" lIns="0" tIns="0" rIns="0" bIns="0" rtlCol="0" anchor="t"/>
          <a:lstStyle/>
          <a:p>
            <a:pPr indent="0" marL="0">
              <a:buNone/>
            </a:pPr>
            <a:r>
              <a:rPr lang="en-US" sz="1000" i="1" dirty="0">
                <a:solidFill>
                  <a:srgbClr val="E9E3F5"/>
                </a:solidFill>
                <a:latin typeface="Calibri" pitchFamily="34" charset="0"/>
                <a:ea typeface="Calibri" pitchFamily="34" charset="-122"/>
                <a:cs typeface="Calibri" pitchFamily="34" charset="-120"/>
              </a:rPr>
              <a:t>Background: wide photo of a completed Shri Lakshmi project</a:t>
            </a:r>
            <a:endParaRPr lang="en-US" sz="1000" dirty="0"/>
          </a:p>
        </p:txBody>
      </p:sp>
      <p:sp>
        <p:nvSpPr>
          <p:cNvPr id="15" name="Text 12"/>
          <p:cNvSpPr txBox="1"/>
          <p:nvPr/>
        </p:nvSpPr>
        <p:spPr>
          <a:xfrm>
            <a:off x="5852160" y="1280160"/>
            <a:ext cx="2743200" cy="228600"/>
          </a:xfrm>
          <a:prstGeom prst="rect">
            <a:avLst/>
          </a:prstGeom>
          <a:noFill/>
          <a:ln/>
        </p:spPr>
        <p:txBody>
          <a:bodyPr wrap="square" lIns="0" tIns="0" rIns="0" bIns="0" rtlCol="0" anchor="t"/>
          <a:lstStyle/>
          <a:p>
            <a:pPr indent="0" marL="0">
              <a:buNone/>
            </a:pPr>
            <a:r>
              <a:rPr lang="en-US" sz="1000" b="1" spc="100" kern="0" dirty="0">
                <a:solidFill>
                  <a:schemeClr val="accent1"/>
                </a:solidFill>
                <a:latin typeface="Calibri" pitchFamily="34" charset="0"/>
                <a:ea typeface="Calibri" pitchFamily="34" charset="-122"/>
                <a:cs typeface="Calibri" pitchFamily="34" charset="-120"/>
              </a:rPr>
              <a:t>ALTERNATE HEADLINES</a:t>
            </a:r>
            <a:endParaRPr lang="en-US" sz="1000" dirty="0"/>
          </a:p>
        </p:txBody>
      </p:sp>
      <p:sp>
        <p:nvSpPr>
          <p:cNvPr id="16" name="Text 13"/>
          <p:cNvSpPr txBox="1"/>
          <p:nvPr/>
        </p:nvSpPr>
        <p:spPr>
          <a:xfrm>
            <a:off x="5852160" y="1554480"/>
            <a:ext cx="283464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Your Vision, Engineered to Perfection</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Strong Foundations. Lasting Homes.</a:t>
            </a:r>
            <a:endParaRPr lang="en-US" sz="1200" dirty="0"/>
          </a:p>
          <a:p>
            <a:pPr marL="342900" indent="-3429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From Blueprint to Your Dream Address</a:t>
            </a:r>
            <a:endParaRPr lang="en-US" sz="1200" dirty="0"/>
          </a:p>
        </p:txBody>
      </p:sp>
      <p:sp>
        <p:nvSpPr>
          <p:cNvPr id="17" name="Text 14"/>
          <p:cNvSpPr txBox="1"/>
          <p:nvPr/>
        </p:nvSpPr>
        <p:spPr>
          <a:xfrm>
            <a:off x="5852160" y="2788920"/>
            <a:ext cx="2743200" cy="228600"/>
          </a:xfrm>
          <a:prstGeom prst="rect">
            <a:avLst/>
          </a:prstGeom>
          <a:noFill/>
          <a:ln/>
        </p:spPr>
        <p:txBody>
          <a:bodyPr wrap="square" lIns="0" tIns="0" rIns="0" bIns="0" rtlCol="0" anchor="t"/>
          <a:lstStyle/>
          <a:p>
            <a:pPr indent="0" marL="0">
              <a:buNone/>
            </a:pPr>
            <a:r>
              <a:rPr lang="en-US" sz="1000" b="1" spc="100" kern="0" dirty="0">
                <a:solidFill>
                  <a:schemeClr val="accent1"/>
                </a:solidFill>
                <a:latin typeface="Calibri" pitchFamily="34" charset="0"/>
                <a:ea typeface="Calibri" pitchFamily="34" charset="-122"/>
                <a:cs typeface="Calibri" pitchFamily="34" charset="-120"/>
              </a:rPr>
              <a:t>TRUST STRIP UNDER BANNER</a:t>
            </a:r>
            <a:endParaRPr lang="en-US" sz="1000" dirty="0"/>
          </a:p>
        </p:txBody>
      </p:sp>
      <p:sp>
        <p:nvSpPr>
          <p:cNvPr id="18" name="ts0"/>
          <p:cNvSpPr/>
          <p:nvPr/>
        </p:nvSpPr>
        <p:spPr>
          <a:xfrm>
            <a:off x="5852160" y="3063240"/>
            <a:ext cx="2834640" cy="429768"/>
          </a:xfrm>
          <a:prstGeom prst="roundRect">
            <a:avLst>
              <a:gd name="adj" fmla="val 17021"/>
            </a:avLst>
          </a:prstGeom>
          <a:solidFill>
            <a:srgbClr val="F4F1FA"/>
          </a:solidFill>
          <a:ln w="12700">
            <a:solidFill>
              <a:srgbClr val="F4F1FA"/>
            </a:solidFill>
            <a:prstDash val="solid"/>
          </a:ln>
        </p:spPr>
      </p:sp>
      <p:sp>
        <p:nvSpPr>
          <p:cNvPr id="19" name="Text 16"/>
          <p:cNvSpPr txBox="1"/>
          <p:nvPr/>
        </p:nvSpPr>
        <p:spPr>
          <a:xfrm>
            <a:off x="5989320" y="3063240"/>
            <a:ext cx="2651760" cy="429768"/>
          </a:xfrm>
          <a:prstGeom prst="rect">
            <a:avLst/>
          </a:prstGeom>
          <a:noFill/>
          <a:ln/>
        </p:spPr>
        <p:txBody>
          <a:bodyPr wrap="square" lIns="0" tIns="0" rIns="0" bIns="0"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[XX]+  </a:t>
            </a:r>
            <a:pPr indent="0" marL="0">
              <a:buNone/>
            </a:pPr>
            <a:r>
              <a:rPr lang="en-US" sz="1200" dirty="0">
                <a:solidFill>
                  <a:schemeClr val="tx1"/>
                </a:solidFill>
                <a:latin typeface="Calibri" pitchFamily="34" charset="0"/>
                <a:ea typeface="Calibri" pitchFamily="34" charset="-122"/>
                <a:cs typeface="Calibri" pitchFamily="34" charset="-120"/>
              </a:rPr>
              <a:t>years of experience</a:t>
            </a:r>
            <a:endParaRPr lang="en-US" sz="1500" dirty="0"/>
          </a:p>
        </p:txBody>
      </p:sp>
      <p:sp>
        <p:nvSpPr>
          <p:cNvPr id="20" name="ts1"/>
          <p:cNvSpPr/>
          <p:nvPr/>
        </p:nvSpPr>
        <p:spPr>
          <a:xfrm>
            <a:off x="5852160" y="3566160"/>
            <a:ext cx="2834640" cy="429768"/>
          </a:xfrm>
          <a:prstGeom prst="roundRect">
            <a:avLst>
              <a:gd name="adj" fmla="val 17021"/>
            </a:avLst>
          </a:prstGeom>
          <a:solidFill>
            <a:srgbClr val="F4F1FA"/>
          </a:solidFill>
          <a:ln w="12700">
            <a:solidFill>
              <a:srgbClr val="F4F1FA"/>
            </a:solidFill>
            <a:prstDash val="solid"/>
          </a:ln>
        </p:spPr>
      </p:sp>
      <p:sp>
        <p:nvSpPr>
          <p:cNvPr id="21" name="Text 18"/>
          <p:cNvSpPr txBox="1"/>
          <p:nvPr/>
        </p:nvSpPr>
        <p:spPr>
          <a:xfrm>
            <a:off x="5989320" y="3566160"/>
            <a:ext cx="2651760" cy="429768"/>
          </a:xfrm>
          <a:prstGeom prst="rect">
            <a:avLst/>
          </a:prstGeom>
          <a:noFill/>
          <a:ln/>
        </p:spPr>
        <p:txBody>
          <a:bodyPr wrap="square" lIns="0" tIns="0" rIns="0" bIns="0"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[XX]+  </a:t>
            </a:r>
            <a:pPr indent="0" marL="0">
              <a:buNone/>
            </a:pPr>
            <a:r>
              <a:rPr lang="en-US" sz="1200" dirty="0">
                <a:solidFill>
                  <a:schemeClr val="tx1"/>
                </a:solidFill>
                <a:latin typeface="Calibri" pitchFamily="34" charset="0"/>
                <a:ea typeface="Calibri" pitchFamily="34" charset="-122"/>
                <a:cs typeface="Calibri" pitchFamily="34" charset="-120"/>
              </a:rPr>
              <a:t>projects delivered</a:t>
            </a:r>
            <a:endParaRPr lang="en-US" sz="1500" dirty="0"/>
          </a:p>
        </p:txBody>
      </p:sp>
      <p:sp>
        <p:nvSpPr>
          <p:cNvPr id="22" name="ts2"/>
          <p:cNvSpPr/>
          <p:nvPr/>
        </p:nvSpPr>
        <p:spPr>
          <a:xfrm>
            <a:off x="5852160" y="4069080"/>
            <a:ext cx="2834640" cy="429768"/>
          </a:xfrm>
          <a:prstGeom prst="roundRect">
            <a:avLst>
              <a:gd name="adj" fmla="val 17021"/>
            </a:avLst>
          </a:prstGeom>
          <a:solidFill>
            <a:srgbClr val="F4F1FA"/>
          </a:solidFill>
          <a:ln w="12700">
            <a:solidFill>
              <a:srgbClr val="F4F1FA"/>
            </a:solidFill>
            <a:prstDash val="solid"/>
          </a:ln>
        </p:spPr>
      </p:sp>
      <p:sp>
        <p:nvSpPr>
          <p:cNvPr id="23" name="Text 20"/>
          <p:cNvSpPr txBox="1"/>
          <p:nvPr/>
        </p:nvSpPr>
        <p:spPr>
          <a:xfrm>
            <a:off x="5989320" y="4069080"/>
            <a:ext cx="2651760" cy="429768"/>
          </a:xfrm>
          <a:prstGeom prst="rect">
            <a:avLst/>
          </a:prstGeom>
          <a:noFill/>
          <a:ln/>
        </p:spPr>
        <p:txBody>
          <a:bodyPr wrap="square" lIns="0" tIns="0" rIns="0" bIns="0"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[XXX]+  </a:t>
            </a:r>
            <a:pPr indent="0" marL="0">
              <a:buNone/>
            </a:pPr>
            <a:r>
              <a:rPr lang="en-US" sz="1200" dirty="0">
                <a:solidFill>
                  <a:schemeClr val="tx1"/>
                </a:solidFill>
                <a:latin typeface="Calibri" pitchFamily="34" charset="0"/>
                <a:ea typeface="Calibri" pitchFamily="34" charset="-122"/>
                <a:cs typeface="Calibri" pitchFamily="34" charset="-120"/>
              </a:rPr>
              <a:t>happy families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HOME</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Sections 2–3 · Welcome and why choose us</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Welcome to Shri Lakshmi Constructions</a:t>
            </a:r>
            <a:endParaRPr lang="en-US" sz="2400" dirty="0"/>
          </a:p>
        </p:txBody>
      </p:sp>
      <p:sp>
        <p:nvSpPr>
          <p:cNvPr id="6" name="Text 4"/>
          <p:cNvSpPr txBox="1"/>
          <p:nvPr/>
        </p:nvSpPr>
        <p:spPr>
          <a:xfrm>
            <a:off x="457200" y="1234440"/>
            <a:ext cx="8229600"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Based in Banashankari, Bengaluru, Shri Lakshmi Constructions &amp; Engineers designs and builds homes and commercial spaces that families and businesses can rely on for generations. Every project combines sound engineering, quality materials and transparent dealings, from the first drawing to the day we hand over the keys.</a:t>
            </a:r>
            <a:endParaRPr lang="en-US" sz="1300" dirty="0"/>
          </a:p>
        </p:txBody>
      </p:sp>
      <p:sp>
        <p:nvSpPr>
          <p:cNvPr id="7" name="Text 5"/>
          <p:cNvSpPr txBox="1"/>
          <p:nvPr/>
        </p:nvSpPr>
        <p:spPr>
          <a:xfrm>
            <a:off x="457200" y="2194560"/>
            <a:ext cx="2743200" cy="228600"/>
          </a:xfrm>
          <a:prstGeom prst="rect">
            <a:avLst/>
          </a:prstGeom>
          <a:noFill/>
          <a:ln/>
        </p:spPr>
        <p:txBody>
          <a:bodyPr wrap="square" lIns="0" tIns="0" rIns="0" bIns="0" rtlCol="0" anchor="t"/>
          <a:lstStyle/>
          <a:p>
            <a:pPr indent="0" marL="0">
              <a:buNone/>
            </a:pPr>
            <a:r>
              <a:rPr lang="en-US" sz="1000" b="1" spc="100" kern="0" dirty="0">
                <a:solidFill>
                  <a:schemeClr val="accent1"/>
                </a:solidFill>
                <a:latin typeface="Calibri" pitchFamily="34" charset="0"/>
                <a:ea typeface="Calibri" pitchFamily="34" charset="-122"/>
                <a:cs typeface="Calibri" pitchFamily="34" charset="-120"/>
              </a:rPr>
              <a:t>WHY CHOOSE US</a:t>
            </a:r>
            <a:endParaRPr lang="en-US" sz="1000" dirty="0"/>
          </a:p>
        </p:txBody>
      </p:sp>
      <p:sp>
        <p:nvSpPr>
          <p:cNvPr id="8" name="why0"/>
          <p:cNvSpPr/>
          <p:nvPr/>
        </p:nvSpPr>
        <p:spPr>
          <a:xfrm>
            <a:off x="457200" y="2468880"/>
            <a:ext cx="1947672" cy="2057400"/>
          </a:xfrm>
          <a:prstGeom prst="roundRect">
            <a:avLst>
              <a:gd name="adj" fmla="val 3756"/>
            </a:avLst>
          </a:prstGeom>
          <a:solidFill>
            <a:srgbClr val="F4F1FA"/>
          </a:solidFill>
          <a:ln w="12700">
            <a:solidFill>
              <a:srgbClr val="F4F1FA"/>
            </a:solidFill>
            <a:prstDash val="solid"/>
          </a:ln>
        </p:spPr>
      </p:sp>
      <p:sp>
        <p:nvSpPr>
          <p:cNvPr id="9" name="whyi0"/>
          <p:cNvSpPr/>
          <p:nvPr/>
        </p:nvSpPr>
        <p:spPr>
          <a:xfrm>
            <a:off x="640080" y="2633472"/>
            <a:ext cx="502920" cy="502920"/>
          </a:xfrm>
          <a:prstGeom prst="ellipse">
            <a:avLst/>
          </a:prstGeom>
          <a:solidFill>
            <a:srgbClr val="6A45A6"/>
          </a:solidFill>
          <a:ln w="12700">
            <a:solidFill>
              <a:srgbClr val="6A45A6"/>
            </a:solidFill>
            <a:prstDash val="solid"/>
          </a:ln>
        </p:spPr>
      </p:sp>
      <p:pic>
        <p:nvPicPr>
          <p:cNvPr id="10" name="Image 0" descr="preencoded.png">    </p:cNvPr>
          <p:cNvPicPr>
            <a:picLocks noChangeAspect="1"/>
          </p:cNvPicPr>
          <p:nvPr/>
        </p:nvPicPr>
        <p:blipFill>
          <a:blip r:embed="rId1"/>
          <a:stretch>
            <a:fillRect/>
          </a:stretch>
        </p:blipFill>
        <p:spPr>
          <a:xfrm>
            <a:off x="765810" y="2759202"/>
            <a:ext cx="251460" cy="251460"/>
          </a:xfrm>
          <a:prstGeom prst="rect">
            <a:avLst/>
          </a:prstGeom>
        </p:spPr>
      </p:pic>
      <p:sp>
        <p:nvSpPr>
          <p:cNvPr id="11" name="Text 8"/>
          <p:cNvSpPr txBox="1"/>
          <p:nvPr/>
        </p:nvSpPr>
        <p:spPr>
          <a:xfrm>
            <a:off x="640080" y="3246120"/>
            <a:ext cx="164592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Engineering expertise</a:t>
            </a:r>
            <a:endParaRPr lang="en-US" sz="1300" dirty="0"/>
          </a:p>
        </p:txBody>
      </p:sp>
      <p:sp>
        <p:nvSpPr>
          <p:cNvPr id="12" name="Text 9"/>
          <p:cNvSpPr txBox="1"/>
          <p:nvPr/>
        </p:nvSpPr>
        <p:spPr>
          <a:xfrm>
            <a:off x="640080" y="3703320"/>
            <a:ext cx="1645920" cy="73152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Qualified engineers oversee design, structure and execution</a:t>
            </a:r>
            <a:endParaRPr lang="en-US" sz="1150" dirty="0"/>
          </a:p>
        </p:txBody>
      </p:sp>
      <p:sp>
        <p:nvSpPr>
          <p:cNvPr id="13" name="why1"/>
          <p:cNvSpPr/>
          <p:nvPr/>
        </p:nvSpPr>
        <p:spPr>
          <a:xfrm>
            <a:off x="2542032" y="2468880"/>
            <a:ext cx="1947672" cy="2057400"/>
          </a:xfrm>
          <a:prstGeom prst="roundRect">
            <a:avLst>
              <a:gd name="adj" fmla="val 3756"/>
            </a:avLst>
          </a:prstGeom>
          <a:solidFill>
            <a:srgbClr val="F4F1FA"/>
          </a:solidFill>
          <a:ln w="12700">
            <a:solidFill>
              <a:srgbClr val="F4F1FA"/>
            </a:solidFill>
            <a:prstDash val="solid"/>
          </a:ln>
        </p:spPr>
      </p:sp>
      <p:sp>
        <p:nvSpPr>
          <p:cNvPr id="14" name="whyi1"/>
          <p:cNvSpPr/>
          <p:nvPr/>
        </p:nvSpPr>
        <p:spPr>
          <a:xfrm>
            <a:off x="2724912" y="2633472"/>
            <a:ext cx="502920" cy="502920"/>
          </a:xfrm>
          <a:prstGeom prst="ellipse">
            <a:avLst/>
          </a:prstGeom>
          <a:solidFill>
            <a:srgbClr val="6A45A6"/>
          </a:solidFill>
          <a:ln w="12700">
            <a:solidFill>
              <a:srgbClr val="6A45A6"/>
            </a:solidFill>
            <a:prstDash val="solid"/>
          </a:ln>
        </p:spPr>
      </p:sp>
      <p:pic>
        <p:nvPicPr>
          <p:cNvPr id="15" name="Image 1" descr="preencoded.png">    </p:cNvPr>
          <p:cNvPicPr>
            <a:picLocks noChangeAspect="1"/>
          </p:cNvPicPr>
          <p:nvPr/>
        </p:nvPicPr>
        <p:blipFill>
          <a:blip r:embed="rId2"/>
          <a:stretch>
            <a:fillRect/>
          </a:stretch>
        </p:blipFill>
        <p:spPr>
          <a:xfrm>
            <a:off x="2850642" y="2759202"/>
            <a:ext cx="251460" cy="251460"/>
          </a:xfrm>
          <a:prstGeom prst="rect">
            <a:avLst/>
          </a:prstGeom>
        </p:spPr>
      </p:pic>
      <p:sp>
        <p:nvSpPr>
          <p:cNvPr id="16" name="Text 12"/>
          <p:cNvSpPr txBox="1"/>
          <p:nvPr/>
        </p:nvSpPr>
        <p:spPr>
          <a:xfrm>
            <a:off x="2724912" y="3246120"/>
            <a:ext cx="164592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Quality materials</a:t>
            </a:r>
            <a:endParaRPr lang="en-US" sz="1300" dirty="0"/>
          </a:p>
        </p:txBody>
      </p:sp>
      <p:sp>
        <p:nvSpPr>
          <p:cNvPr id="17" name="Text 13"/>
          <p:cNvSpPr txBox="1"/>
          <p:nvPr/>
        </p:nvSpPr>
        <p:spPr>
          <a:xfrm>
            <a:off x="2724912" y="3703320"/>
            <a:ext cx="1645920" cy="73152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Branded, tested materials and strict site checks</a:t>
            </a:r>
            <a:endParaRPr lang="en-US" sz="1150" dirty="0"/>
          </a:p>
        </p:txBody>
      </p:sp>
      <p:sp>
        <p:nvSpPr>
          <p:cNvPr id="18" name="why2"/>
          <p:cNvSpPr/>
          <p:nvPr/>
        </p:nvSpPr>
        <p:spPr>
          <a:xfrm>
            <a:off x="4626864" y="2468880"/>
            <a:ext cx="1947672" cy="2057400"/>
          </a:xfrm>
          <a:prstGeom prst="roundRect">
            <a:avLst>
              <a:gd name="adj" fmla="val 3756"/>
            </a:avLst>
          </a:prstGeom>
          <a:solidFill>
            <a:srgbClr val="F4F1FA"/>
          </a:solidFill>
          <a:ln w="12700">
            <a:solidFill>
              <a:srgbClr val="F4F1FA"/>
            </a:solidFill>
            <a:prstDash val="solid"/>
          </a:ln>
        </p:spPr>
      </p:sp>
      <p:sp>
        <p:nvSpPr>
          <p:cNvPr id="19" name="whyi2"/>
          <p:cNvSpPr/>
          <p:nvPr/>
        </p:nvSpPr>
        <p:spPr>
          <a:xfrm>
            <a:off x="4809744" y="2633472"/>
            <a:ext cx="502920" cy="502920"/>
          </a:xfrm>
          <a:prstGeom prst="ellipse">
            <a:avLst/>
          </a:prstGeom>
          <a:solidFill>
            <a:srgbClr val="6A45A6"/>
          </a:solidFill>
          <a:ln w="12700">
            <a:solidFill>
              <a:srgbClr val="6A45A6"/>
            </a:solidFill>
            <a:prstDash val="solid"/>
          </a:ln>
        </p:spPr>
      </p:sp>
      <p:pic>
        <p:nvPicPr>
          <p:cNvPr id="20" name="Image 2" descr="preencoded.png">    </p:cNvPr>
          <p:cNvPicPr>
            <a:picLocks noChangeAspect="1"/>
          </p:cNvPicPr>
          <p:nvPr/>
        </p:nvPicPr>
        <p:blipFill>
          <a:blip r:embed="rId3"/>
          <a:stretch>
            <a:fillRect/>
          </a:stretch>
        </p:blipFill>
        <p:spPr>
          <a:xfrm>
            <a:off x="4935474" y="2759202"/>
            <a:ext cx="251460" cy="251460"/>
          </a:xfrm>
          <a:prstGeom prst="rect">
            <a:avLst/>
          </a:prstGeom>
        </p:spPr>
      </p:pic>
      <p:sp>
        <p:nvSpPr>
          <p:cNvPr id="21" name="Text 16"/>
          <p:cNvSpPr txBox="1"/>
          <p:nvPr/>
        </p:nvSpPr>
        <p:spPr>
          <a:xfrm>
            <a:off x="4809744" y="3246120"/>
            <a:ext cx="164592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On-time delivery</a:t>
            </a:r>
            <a:endParaRPr lang="en-US" sz="1300" dirty="0"/>
          </a:p>
        </p:txBody>
      </p:sp>
      <p:sp>
        <p:nvSpPr>
          <p:cNvPr id="22" name="Text 17"/>
          <p:cNvSpPr txBox="1"/>
          <p:nvPr/>
        </p:nvSpPr>
        <p:spPr>
          <a:xfrm>
            <a:off x="4809744" y="3703320"/>
            <a:ext cx="1645920" cy="73152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Clear schedules with regular progress updates</a:t>
            </a:r>
            <a:endParaRPr lang="en-US" sz="1150" dirty="0"/>
          </a:p>
        </p:txBody>
      </p:sp>
      <p:sp>
        <p:nvSpPr>
          <p:cNvPr id="23" name="why3"/>
          <p:cNvSpPr/>
          <p:nvPr/>
        </p:nvSpPr>
        <p:spPr>
          <a:xfrm>
            <a:off x="6711696" y="2468880"/>
            <a:ext cx="1947672" cy="2057400"/>
          </a:xfrm>
          <a:prstGeom prst="roundRect">
            <a:avLst>
              <a:gd name="adj" fmla="val 3756"/>
            </a:avLst>
          </a:prstGeom>
          <a:solidFill>
            <a:srgbClr val="F4F1FA"/>
          </a:solidFill>
          <a:ln w="12700">
            <a:solidFill>
              <a:srgbClr val="F4F1FA"/>
            </a:solidFill>
            <a:prstDash val="solid"/>
          </a:ln>
        </p:spPr>
      </p:sp>
      <p:sp>
        <p:nvSpPr>
          <p:cNvPr id="24" name="whyi3"/>
          <p:cNvSpPr/>
          <p:nvPr/>
        </p:nvSpPr>
        <p:spPr>
          <a:xfrm>
            <a:off x="6894576" y="2633472"/>
            <a:ext cx="502920" cy="502920"/>
          </a:xfrm>
          <a:prstGeom prst="ellipse">
            <a:avLst/>
          </a:prstGeom>
          <a:solidFill>
            <a:srgbClr val="6A45A6"/>
          </a:solidFill>
          <a:ln w="12700">
            <a:solidFill>
              <a:srgbClr val="6A45A6"/>
            </a:solidFill>
            <a:prstDash val="solid"/>
          </a:ln>
        </p:spPr>
      </p:sp>
      <p:pic>
        <p:nvPicPr>
          <p:cNvPr id="25" name="Image 3" descr="preencoded.png">    </p:cNvPr>
          <p:cNvPicPr>
            <a:picLocks noChangeAspect="1"/>
          </p:cNvPicPr>
          <p:nvPr/>
        </p:nvPicPr>
        <p:blipFill>
          <a:blip r:embed="rId4"/>
          <a:stretch>
            <a:fillRect/>
          </a:stretch>
        </p:blipFill>
        <p:spPr>
          <a:xfrm>
            <a:off x="7020306" y="2759202"/>
            <a:ext cx="251460" cy="251460"/>
          </a:xfrm>
          <a:prstGeom prst="rect">
            <a:avLst/>
          </a:prstGeom>
        </p:spPr>
      </p:pic>
      <p:sp>
        <p:nvSpPr>
          <p:cNvPr id="26" name="Text 20"/>
          <p:cNvSpPr txBox="1"/>
          <p:nvPr/>
        </p:nvSpPr>
        <p:spPr>
          <a:xfrm>
            <a:off x="6894576" y="3246120"/>
            <a:ext cx="1645920" cy="45720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Transparent pricing</a:t>
            </a:r>
            <a:endParaRPr lang="en-US" sz="1300" dirty="0"/>
          </a:p>
        </p:txBody>
      </p:sp>
      <p:sp>
        <p:nvSpPr>
          <p:cNvPr id="27" name="Text 21"/>
          <p:cNvSpPr txBox="1"/>
          <p:nvPr/>
        </p:nvSpPr>
        <p:spPr>
          <a:xfrm>
            <a:off x="6894576" y="3703320"/>
            <a:ext cx="1645920" cy="73152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Detailed estimates with no hidden costs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HOME</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Sections 4–7 · Services, projects, testimonials, CTA</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The rest of the home page</a:t>
            </a:r>
            <a:endParaRPr lang="en-US" sz="2400" dirty="0"/>
          </a:p>
        </p:txBody>
      </p:sp>
      <p:sp>
        <p:nvSpPr>
          <p:cNvPr id="6" name="hs0"/>
          <p:cNvSpPr/>
          <p:nvPr/>
        </p:nvSpPr>
        <p:spPr>
          <a:xfrm>
            <a:off x="457200" y="1234440"/>
            <a:ext cx="4023360" cy="1554480"/>
          </a:xfrm>
          <a:prstGeom prst="roundRect">
            <a:avLst>
              <a:gd name="adj" fmla="val 4706"/>
            </a:avLst>
          </a:prstGeom>
          <a:solidFill>
            <a:srgbClr val="F4F1FA"/>
          </a:solidFill>
          <a:ln w="12700">
            <a:solidFill>
              <a:srgbClr val="F4F1FA"/>
            </a:solidFill>
            <a:prstDash val="solid"/>
          </a:ln>
        </p:spPr>
      </p:sp>
      <p:sp>
        <p:nvSpPr>
          <p:cNvPr id="7" name="Text 5"/>
          <p:cNvSpPr txBox="1"/>
          <p:nvPr/>
        </p:nvSpPr>
        <p:spPr>
          <a:xfrm>
            <a:off x="685800" y="1399032"/>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Our Services</a:t>
            </a:r>
            <a:endParaRPr lang="en-US" sz="1500" dirty="0"/>
          </a:p>
        </p:txBody>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250" i="1" dirty="0">
                <a:solidFill>
                  <a:srgbClr val="6A45A6"/>
                </a:solidFill>
                <a:latin typeface="Calibri" pitchFamily="34" charset="0"/>
                <a:ea typeface="Calibri" pitchFamily="34" charset="-122"/>
                <a:cs typeface="Calibri" pitchFamily="34" charset="-120"/>
              </a:rPr>
              <a:t>Complete construction solutions under one roof.</a:t>
            </a:r>
            <a:endParaRPr lang="en-US" sz="1250" dirty="0"/>
          </a:p>
        </p:txBody>
      </p:sp>
      <p:sp>
        <p:nvSpPr>
          <p:cNvPr id="9" name="Text 7"/>
          <p:cNvSpPr txBox="1"/>
          <p:nvPr/>
        </p:nvSpPr>
        <p:spPr>
          <a:xfrm>
            <a:off x="685800" y="2057400"/>
            <a:ext cx="3566160" cy="68580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Six service cards: residential, commercial, turnkey, renovation, interiors, structural design. Button: Explore Services</a:t>
            </a:r>
            <a:endParaRPr lang="en-US" sz="1150" dirty="0"/>
          </a:p>
        </p:txBody>
      </p:sp>
      <p:sp>
        <p:nvSpPr>
          <p:cNvPr id="10" name="hs1"/>
          <p:cNvSpPr/>
          <p:nvPr/>
        </p:nvSpPr>
        <p:spPr>
          <a:xfrm>
            <a:off x="4663440" y="1234440"/>
            <a:ext cx="4023360" cy="1554480"/>
          </a:xfrm>
          <a:prstGeom prst="roundRect">
            <a:avLst>
              <a:gd name="adj" fmla="val 4706"/>
            </a:avLst>
          </a:prstGeom>
          <a:solidFill>
            <a:srgbClr val="F4F1FA"/>
          </a:solidFill>
          <a:ln w="12700">
            <a:solidFill>
              <a:srgbClr val="F4F1FA"/>
            </a:solidFill>
            <a:prstDash val="solid"/>
          </a:ln>
        </p:spPr>
      </p:sp>
      <p:sp>
        <p:nvSpPr>
          <p:cNvPr id="11" name="Text 9"/>
          <p:cNvSpPr txBox="1"/>
          <p:nvPr/>
        </p:nvSpPr>
        <p:spPr>
          <a:xfrm>
            <a:off x="4892040" y="1399032"/>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Featured Projects</a:t>
            </a:r>
            <a:endParaRPr lang="en-US" sz="1500" dirty="0"/>
          </a:p>
        </p:txBody>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250" i="1" dirty="0">
                <a:solidFill>
                  <a:srgbClr val="6A45A6"/>
                </a:solidFill>
                <a:latin typeface="Calibri" pitchFamily="34" charset="0"/>
                <a:ea typeface="Calibri" pitchFamily="34" charset="-122"/>
                <a:cs typeface="Calibri" pitchFamily="34" charset="-120"/>
              </a:rPr>
              <a:t>Spaces we are proud to have built.</a:t>
            </a:r>
            <a:endParaRPr lang="en-US" sz="1250" dirty="0"/>
          </a:p>
        </p:txBody>
      </p:sp>
      <p:sp>
        <p:nvSpPr>
          <p:cNvPr id="13" name="Text 11"/>
          <p:cNvSpPr txBox="1"/>
          <p:nvPr/>
        </p:nvSpPr>
        <p:spPr>
          <a:xfrm>
            <a:off x="4892040" y="2057400"/>
            <a:ext cx="3566160" cy="68580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Three project cards with photo, name, location and status. Button: View All Projects</a:t>
            </a:r>
            <a:endParaRPr lang="en-US" sz="1150" dirty="0"/>
          </a:p>
        </p:txBody>
      </p:sp>
      <p:sp>
        <p:nvSpPr>
          <p:cNvPr id="14" name="hs2"/>
          <p:cNvSpPr/>
          <p:nvPr/>
        </p:nvSpPr>
        <p:spPr>
          <a:xfrm>
            <a:off x="457200" y="2926080"/>
            <a:ext cx="4023360" cy="1554480"/>
          </a:xfrm>
          <a:prstGeom prst="roundRect">
            <a:avLst>
              <a:gd name="adj" fmla="val 4706"/>
            </a:avLst>
          </a:prstGeom>
          <a:solidFill>
            <a:srgbClr val="F4F1FA"/>
          </a:solidFill>
          <a:ln w="12700">
            <a:solidFill>
              <a:srgbClr val="F4F1FA"/>
            </a:solidFill>
            <a:prstDash val="solid"/>
          </a:ln>
        </p:spPr>
      </p:sp>
      <p:sp>
        <p:nvSpPr>
          <p:cNvPr id="15" name="Text 13"/>
          <p:cNvSpPr txBox="1"/>
          <p:nvPr/>
        </p:nvSpPr>
        <p:spPr>
          <a:xfrm>
            <a:off x="685800" y="3090672"/>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What Our Clients Say</a:t>
            </a:r>
            <a:endParaRPr lang="en-US" sz="1500" dirty="0"/>
          </a:p>
        </p:txBody>
      </p:sp>
      <p:sp>
        <p:nvSpPr>
          <p:cNvPr id="16" name="Text 14"/>
          <p:cNvSpPr txBox="1"/>
          <p:nvPr/>
        </p:nvSpPr>
        <p:spPr>
          <a:xfrm>
            <a:off x="685800" y="3429000"/>
            <a:ext cx="3566160" cy="274320"/>
          </a:xfrm>
          <a:prstGeom prst="rect">
            <a:avLst/>
          </a:prstGeom>
          <a:noFill/>
          <a:ln/>
        </p:spPr>
        <p:txBody>
          <a:bodyPr wrap="square" lIns="0" tIns="0" rIns="0" bIns="0" rtlCol="0" anchor="t"/>
          <a:lstStyle/>
          <a:p>
            <a:pPr indent="0" marL="0">
              <a:buNone/>
            </a:pPr>
            <a:r>
              <a:rPr lang="en-US" sz="1250" i="1" dirty="0">
                <a:solidFill>
                  <a:srgbClr val="6A45A6"/>
                </a:solidFill>
                <a:latin typeface="Calibri" pitchFamily="34" charset="0"/>
                <a:ea typeface="Calibri" pitchFamily="34" charset="-122"/>
                <a:cs typeface="Calibri" pitchFamily="34" charset="-120"/>
              </a:rPr>
              <a:t>Real words from families who trusted us.</a:t>
            </a:r>
            <a:endParaRPr lang="en-US" sz="1250" dirty="0"/>
          </a:p>
        </p:txBody>
      </p:sp>
      <p:sp>
        <p:nvSpPr>
          <p:cNvPr id="17" name="Text 15"/>
          <p:cNvSpPr txBox="1"/>
          <p:nvPr/>
        </p:nvSpPr>
        <p:spPr>
          <a:xfrm>
            <a:off x="685800" y="3749040"/>
            <a:ext cx="3566160" cy="68580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3 short testimonials with name and project. Add a video testimonial when available</a:t>
            </a:r>
            <a:endParaRPr lang="en-US" sz="1150" dirty="0"/>
          </a:p>
        </p:txBody>
      </p:sp>
      <p:sp>
        <p:nvSpPr>
          <p:cNvPr id="18" name="hs3"/>
          <p:cNvSpPr/>
          <p:nvPr/>
        </p:nvSpPr>
        <p:spPr>
          <a:xfrm>
            <a:off x="4663440" y="2926080"/>
            <a:ext cx="4023360" cy="1554480"/>
          </a:xfrm>
          <a:prstGeom prst="roundRect">
            <a:avLst>
              <a:gd name="adj" fmla="val 4706"/>
            </a:avLst>
          </a:prstGeom>
          <a:solidFill>
            <a:srgbClr val="1F1F5C"/>
          </a:solidFill>
          <a:ln w="12700">
            <a:solidFill>
              <a:srgbClr val="1F1F5C"/>
            </a:solidFill>
            <a:prstDash val="solid"/>
          </a:ln>
        </p:spPr>
      </p:sp>
      <p:sp>
        <p:nvSpPr>
          <p:cNvPr id="19" name="Text 17"/>
          <p:cNvSpPr txBox="1"/>
          <p:nvPr/>
        </p:nvSpPr>
        <p:spPr>
          <a:xfrm>
            <a:off x="4892040" y="3090672"/>
            <a:ext cx="3566160" cy="32004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Call to action band</a:t>
            </a:r>
            <a:endParaRPr lang="en-US" sz="1500" dirty="0"/>
          </a:p>
        </p:txBody>
      </p:sp>
      <p:sp>
        <p:nvSpPr>
          <p:cNvPr id="20" name="Text 18"/>
          <p:cNvSpPr txBox="1"/>
          <p:nvPr/>
        </p:nvSpPr>
        <p:spPr>
          <a:xfrm>
            <a:off x="4892040" y="3429000"/>
            <a:ext cx="3566160" cy="274320"/>
          </a:xfrm>
          <a:prstGeom prst="rect">
            <a:avLst/>
          </a:prstGeom>
          <a:noFill/>
          <a:ln/>
        </p:spPr>
        <p:txBody>
          <a:bodyPr wrap="square" lIns="0" tIns="0" rIns="0" bIns="0" rtlCol="0" anchor="t"/>
          <a:lstStyle/>
          <a:p>
            <a:pPr indent="0" marL="0">
              <a:buNone/>
            </a:pPr>
            <a:r>
              <a:rPr lang="en-US" sz="1250" i="1" dirty="0">
                <a:solidFill>
                  <a:srgbClr val="C9B6EA"/>
                </a:solidFill>
                <a:latin typeface="Calibri" pitchFamily="34" charset="0"/>
                <a:ea typeface="Calibri" pitchFamily="34" charset="-122"/>
                <a:cs typeface="Calibri" pitchFamily="34" charset="-120"/>
              </a:rPr>
              <a:t>Planning to build? Let’s talk.</a:t>
            </a:r>
            <a:endParaRPr lang="en-US" sz="1250" dirty="0"/>
          </a:p>
        </p:txBody>
      </p:sp>
      <p:sp>
        <p:nvSpPr>
          <p:cNvPr id="21" name="Text 19"/>
          <p:cNvSpPr txBox="1"/>
          <p:nvPr/>
        </p:nvSpPr>
        <p:spPr>
          <a:xfrm>
            <a:off x="4892040" y="3749040"/>
            <a:ext cx="3566160" cy="685800"/>
          </a:xfrm>
          <a:prstGeom prst="rect">
            <a:avLst/>
          </a:prstGeom>
          <a:noFill/>
          <a:ln/>
        </p:spPr>
        <p:txBody>
          <a:bodyPr wrap="square" lIns="0" tIns="0" rIns="0" bIns="0" rtlCol="0" anchor="t"/>
          <a:lstStyle/>
          <a:p>
            <a:pPr indent="0" marL="0">
              <a:buNone/>
            </a:pPr>
            <a:r>
              <a:rPr lang="en-US" sz="1150" dirty="0">
                <a:solidFill>
                  <a:srgbClr val="E9E3F5"/>
                </a:solidFill>
                <a:latin typeface="Calibri" pitchFamily="34" charset="0"/>
                <a:ea typeface="Calibri" pitchFamily="34" charset="-122"/>
                <a:cs typeface="Calibri" pitchFamily="34" charset="-120"/>
              </a:rPr>
              <a:t>Get an expert consultation and a transparent estimate. Buttons: Get a Free Quote · Call +91 8147573925</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ABOUT US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Sections 1–2 · Our story, vision and mission</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Built on Integrity, Driven by Excellence</a:t>
            </a:r>
            <a:endParaRPr lang="en-US" sz="2400" dirty="0"/>
          </a:p>
        </p:txBody>
      </p:sp>
      <p:sp>
        <p:nvSpPr>
          <p:cNvPr id="6" name="Text 4"/>
          <p:cNvSpPr txBox="1"/>
          <p:nvPr/>
        </p:nvSpPr>
        <p:spPr>
          <a:xfrm>
            <a:off x="457200" y="1234440"/>
            <a:ext cx="2743200" cy="228600"/>
          </a:xfrm>
          <a:prstGeom prst="rect">
            <a:avLst/>
          </a:prstGeom>
          <a:noFill/>
          <a:ln/>
        </p:spPr>
        <p:txBody>
          <a:bodyPr wrap="square" lIns="0" tIns="0" rIns="0" bIns="0" rtlCol="0" anchor="t"/>
          <a:lstStyle/>
          <a:p>
            <a:pPr indent="0" marL="0">
              <a:buNone/>
            </a:pPr>
            <a:r>
              <a:rPr lang="en-US" sz="1000" b="1" spc="100" kern="0" dirty="0">
                <a:solidFill>
                  <a:schemeClr val="accent1"/>
                </a:solidFill>
                <a:latin typeface="Calibri" pitchFamily="34" charset="0"/>
                <a:ea typeface="Calibri" pitchFamily="34" charset="-122"/>
                <a:cs typeface="Calibri" pitchFamily="34" charset="-120"/>
              </a:rPr>
              <a:t>OUR STORY</a:t>
            </a:r>
            <a:endParaRPr lang="en-US" sz="1000" dirty="0"/>
          </a:p>
        </p:txBody>
      </p:sp>
      <p:sp>
        <p:nvSpPr>
          <p:cNvPr id="7" name="Text 5"/>
          <p:cNvSpPr txBox="1"/>
          <p:nvPr/>
        </p:nvSpPr>
        <p:spPr>
          <a:xfrm>
            <a:off x="457200" y="1508760"/>
            <a:ext cx="4754880" cy="3017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Shri Lakshmi Constructions &amp; Engineers was founded with a simple belief: every client deserves a building that is safe, beautiful and built honestly. Over </a:t>
            </a:r>
            <a:pPr indent="0" marL="0">
              <a:buNone/>
            </a:pPr>
            <a:r>
              <a:rPr lang="en-US" sz="1300" i="1" dirty="0">
                <a:solidFill>
                  <a:srgbClr val="C2410C"/>
                </a:solidFill>
                <a:latin typeface="Calibri" pitchFamily="34" charset="0"/>
                <a:ea typeface="Calibri" pitchFamily="34" charset="-122"/>
                <a:cs typeface="Calibri" pitchFamily="34" charset="-120"/>
              </a:rPr>
              <a:t>[XX] years</a:t>
            </a:r>
            <a:pPr indent="0" marL="0">
              <a:buNone/>
            </a:pPr>
            <a:r>
              <a:rPr lang="en-US" sz="1300" dirty="0">
                <a:solidFill>
                  <a:schemeClr val="tx1"/>
                </a:solidFill>
                <a:latin typeface="Calibri" pitchFamily="34" charset="0"/>
                <a:ea typeface="Calibri" pitchFamily="34" charset="-122"/>
                <a:cs typeface="Calibri" pitchFamily="34" charset="-120"/>
              </a:rPr>
              <a:t>, we have grown from a small team of engineers in Banashankari into a trusted construction partner across Bengaluru, delivering </a:t>
            </a:r>
            <a:pPr indent="0" marL="0">
              <a:buNone/>
            </a:pPr>
            <a:r>
              <a:rPr lang="en-US" sz="1300" i="1" dirty="0">
                <a:solidFill>
                  <a:srgbClr val="C2410C"/>
                </a:solidFill>
                <a:latin typeface="Calibri" pitchFamily="34" charset="0"/>
                <a:ea typeface="Calibri" pitchFamily="34" charset="-122"/>
                <a:cs typeface="Calibri" pitchFamily="34" charset="-120"/>
              </a:rPr>
              <a:t>[XX]</a:t>
            </a:r>
            <a:pPr indent="0" marL="0">
              <a:buNone/>
            </a:pPr>
            <a:r>
              <a:rPr lang="en-US" sz="1300" dirty="0">
                <a:solidFill>
                  <a:schemeClr val="tx1"/>
                </a:solidFill>
                <a:latin typeface="Calibri" pitchFamily="34" charset="0"/>
                <a:ea typeface="Calibri" pitchFamily="34" charset="-122"/>
                <a:cs typeface="Calibri" pitchFamily="34" charset="-120"/>
              </a:rPr>
              <a:t> residential and commercial projects.</a:t>
            </a:r>
            <a:pPr indent="0" marL="0">
              <a:buNone/>
            </a:pPr>
            <a:endParaRPr lang="en-US" sz="1300" dirty="0"/>
          </a:p>
          <a:p>
            <a:pPr indent="0" marL="0">
              <a:buNone/>
            </a:pP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Our name reflects the prosperity and well-being we wish to bring to every home we build. Our engineers stay involved at every stage, so quality is checked on site, not just on paper.</a:t>
            </a:r>
            <a:endParaRPr lang="en-US" sz="1300" dirty="0"/>
          </a:p>
        </p:txBody>
      </p:sp>
      <p:sp>
        <p:nvSpPr>
          <p:cNvPr id="8" name="vision"/>
          <p:cNvSpPr/>
          <p:nvPr/>
        </p:nvSpPr>
        <p:spPr>
          <a:xfrm>
            <a:off x="5486400" y="1234440"/>
            <a:ext cx="3200400" cy="1554480"/>
          </a:xfrm>
          <a:prstGeom prst="roundRect">
            <a:avLst>
              <a:gd name="adj" fmla="val 4706"/>
            </a:avLst>
          </a:prstGeom>
          <a:solidFill>
            <a:srgbClr val="1F1F5C"/>
          </a:solidFill>
          <a:ln w="12700">
            <a:solidFill>
              <a:srgbClr val="1F1F5C"/>
            </a:solidFill>
            <a:prstDash val="solid"/>
          </a:ln>
        </p:spPr>
      </p:sp>
      <p:sp>
        <p:nvSpPr>
          <p:cNvPr id="9" name="Text 7"/>
          <p:cNvSpPr txBox="1"/>
          <p:nvPr/>
        </p:nvSpPr>
        <p:spPr>
          <a:xfrm>
            <a:off x="5715000" y="1371600"/>
            <a:ext cx="2743200" cy="228600"/>
          </a:xfrm>
          <a:prstGeom prst="rect">
            <a:avLst/>
          </a:prstGeom>
          <a:noFill/>
          <a:ln/>
        </p:spPr>
        <p:txBody>
          <a:bodyPr wrap="square" lIns="0" tIns="0" rIns="0" bIns="0" rtlCol="0" anchor="t"/>
          <a:lstStyle/>
          <a:p>
            <a:pPr indent="0" marL="0">
              <a:buNone/>
            </a:pPr>
            <a:r>
              <a:rPr lang="en-US" sz="1000" b="1" spc="100" kern="0" dirty="0">
                <a:solidFill>
                  <a:srgbClr val="C9B6EA"/>
                </a:solidFill>
                <a:latin typeface="Calibri" pitchFamily="34" charset="0"/>
                <a:ea typeface="Calibri" pitchFamily="34" charset="-122"/>
                <a:cs typeface="Calibri" pitchFamily="34" charset="-120"/>
              </a:rPr>
              <a:t>OUR VISION</a:t>
            </a:r>
            <a:endParaRPr lang="en-US" sz="1000" dirty="0"/>
          </a:p>
        </p:txBody>
      </p:sp>
      <p:sp>
        <p:nvSpPr>
          <p:cNvPr id="10" name="Text 8"/>
          <p:cNvSpPr txBox="1"/>
          <p:nvPr/>
        </p:nvSpPr>
        <p:spPr>
          <a:xfrm>
            <a:off x="5715000" y="1645920"/>
            <a:ext cx="2788920" cy="10515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To be Bengaluru’s most trusted name in construction, known for quality, transparency and timely delivery.</a:t>
            </a:r>
            <a:endParaRPr lang="en-US" sz="1300" dirty="0"/>
          </a:p>
        </p:txBody>
      </p:sp>
      <p:sp>
        <p:nvSpPr>
          <p:cNvPr id="11" name="mission"/>
          <p:cNvSpPr/>
          <p:nvPr/>
        </p:nvSpPr>
        <p:spPr>
          <a:xfrm>
            <a:off x="5486400" y="2971800"/>
            <a:ext cx="3200400" cy="1554480"/>
          </a:xfrm>
          <a:prstGeom prst="roundRect">
            <a:avLst>
              <a:gd name="adj" fmla="val 4706"/>
            </a:avLst>
          </a:prstGeom>
          <a:solidFill>
            <a:srgbClr val="F4F1FA"/>
          </a:solidFill>
          <a:ln w="12700">
            <a:solidFill>
              <a:srgbClr val="F4F1FA"/>
            </a:solidFill>
            <a:prstDash val="solid"/>
          </a:ln>
        </p:spPr>
      </p:sp>
      <p:sp>
        <p:nvSpPr>
          <p:cNvPr id="12" name="Text 10"/>
          <p:cNvSpPr txBox="1"/>
          <p:nvPr/>
        </p:nvSpPr>
        <p:spPr>
          <a:xfrm>
            <a:off x="5715000" y="3108960"/>
            <a:ext cx="2743200" cy="228600"/>
          </a:xfrm>
          <a:prstGeom prst="rect">
            <a:avLst/>
          </a:prstGeom>
          <a:noFill/>
          <a:ln/>
        </p:spPr>
        <p:txBody>
          <a:bodyPr wrap="square" lIns="0" tIns="0" rIns="0" bIns="0" rtlCol="0" anchor="t"/>
          <a:lstStyle/>
          <a:p>
            <a:pPr indent="0" marL="0">
              <a:buNone/>
            </a:pPr>
            <a:r>
              <a:rPr lang="en-US" sz="1000" b="1" spc="100" kern="0" dirty="0">
                <a:solidFill>
                  <a:srgbClr val="6A45A6"/>
                </a:solidFill>
                <a:latin typeface="Calibri" pitchFamily="34" charset="0"/>
                <a:ea typeface="Calibri" pitchFamily="34" charset="-122"/>
                <a:cs typeface="Calibri" pitchFamily="34" charset="-120"/>
              </a:rPr>
              <a:t>OUR MISSION</a:t>
            </a:r>
            <a:endParaRPr lang="en-US" sz="1000" dirty="0"/>
          </a:p>
        </p:txBody>
      </p:sp>
      <p:sp>
        <p:nvSpPr>
          <p:cNvPr id="13" name="Text 11"/>
          <p:cNvSpPr txBox="1"/>
          <p:nvPr/>
        </p:nvSpPr>
        <p:spPr>
          <a:xfrm>
            <a:off x="5715000" y="3383280"/>
            <a:ext cx="2788920" cy="10515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 build safe, durable and thoughtfully designed spaces using sound engineering, quality materials and honest communication with every client.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ABOUT US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Sections 3–4 · Values and approach</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Our values and how we work</a:t>
            </a:r>
            <a:endParaRPr lang="en-US" sz="2400" dirty="0"/>
          </a:p>
        </p:txBody>
      </p:sp>
      <p:sp>
        <p:nvSpPr>
          <p:cNvPr id="6" name="vi0"/>
          <p:cNvSpPr/>
          <p:nvPr/>
        </p:nvSpPr>
        <p:spPr>
          <a:xfrm>
            <a:off x="457200" y="1234440"/>
            <a:ext cx="502920" cy="502920"/>
          </a:xfrm>
          <a:prstGeom prst="ellipse">
            <a:avLst/>
          </a:prstGeom>
          <a:solidFill>
            <a:srgbClr val="6A45A6"/>
          </a:solidFill>
          <a:ln w="12700">
            <a:solidFill>
              <a:srgbClr val="6A45A6"/>
            </a:solidFill>
            <a:prstDash val="solid"/>
          </a:ln>
        </p:spPr>
      </p:sp>
      <p:pic>
        <p:nvPicPr>
          <p:cNvPr id="7" name="Image 0" descr="preencoded.png">    </p:cNvPr>
          <p:cNvPicPr>
            <a:picLocks noChangeAspect="1"/>
          </p:cNvPicPr>
          <p:nvPr/>
        </p:nvPicPr>
        <p:blipFill>
          <a:blip r:embed="rId1"/>
          <a:stretch>
            <a:fillRect/>
          </a:stretch>
        </p:blipFill>
        <p:spPr>
          <a:xfrm>
            <a:off x="582930" y="1360170"/>
            <a:ext cx="251460" cy="251460"/>
          </a:xfrm>
          <a:prstGeom prst="rect">
            <a:avLst/>
          </a:prstGeom>
        </p:spPr>
      </p:pic>
      <p:sp>
        <p:nvSpPr>
          <p:cNvPr id="8" name="Text 5"/>
          <p:cNvSpPr txBox="1"/>
          <p:nvPr/>
        </p:nvSpPr>
        <p:spPr>
          <a:xfrm>
            <a:off x="1097280" y="1252728"/>
            <a:ext cx="2743200" cy="2743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Integrity</a:t>
            </a:r>
            <a:endParaRPr lang="en-US" sz="1400" dirty="0"/>
          </a:p>
        </p:txBody>
      </p:sp>
      <p:sp>
        <p:nvSpPr>
          <p:cNvPr id="9" name="Text 6"/>
          <p:cNvSpPr txBox="1"/>
          <p:nvPr/>
        </p:nvSpPr>
        <p:spPr>
          <a:xfrm>
            <a:off x="1097280" y="1527048"/>
            <a:ext cx="3017520"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Honest estimates and clear commitments</a:t>
            </a:r>
            <a:endParaRPr lang="en-US" sz="1200" dirty="0"/>
          </a:p>
        </p:txBody>
      </p:sp>
      <p:sp>
        <p:nvSpPr>
          <p:cNvPr id="10" name="vi1"/>
          <p:cNvSpPr/>
          <p:nvPr/>
        </p:nvSpPr>
        <p:spPr>
          <a:xfrm>
            <a:off x="457200" y="2057400"/>
            <a:ext cx="502920" cy="502920"/>
          </a:xfrm>
          <a:prstGeom prst="ellipse">
            <a:avLst/>
          </a:prstGeom>
          <a:solidFill>
            <a:srgbClr val="6A45A6"/>
          </a:solidFill>
          <a:ln w="12700">
            <a:solidFill>
              <a:srgbClr val="6A45A6"/>
            </a:solidFill>
            <a:prstDash val="solid"/>
          </a:ln>
        </p:spPr>
      </p:sp>
      <p:pic>
        <p:nvPicPr>
          <p:cNvPr id="11" name="Image 1" descr="preencoded.png">    </p:cNvPr>
          <p:cNvPicPr>
            <a:picLocks noChangeAspect="1"/>
          </p:cNvPicPr>
          <p:nvPr/>
        </p:nvPicPr>
        <p:blipFill>
          <a:blip r:embed="rId2"/>
          <a:stretch>
            <a:fillRect/>
          </a:stretch>
        </p:blipFill>
        <p:spPr>
          <a:xfrm>
            <a:off x="582930" y="2183130"/>
            <a:ext cx="251460" cy="251460"/>
          </a:xfrm>
          <a:prstGeom prst="rect">
            <a:avLst/>
          </a:prstGeom>
        </p:spPr>
      </p:pic>
      <p:sp>
        <p:nvSpPr>
          <p:cNvPr id="12" name="Text 8"/>
          <p:cNvSpPr txBox="1"/>
          <p:nvPr/>
        </p:nvSpPr>
        <p:spPr>
          <a:xfrm>
            <a:off x="1097280" y="2075688"/>
            <a:ext cx="2743200" cy="2743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Quality</a:t>
            </a:r>
            <a:endParaRPr lang="en-US" sz="1400" dirty="0"/>
          </a:p>
        </p:txBody>
      </p:sp>
      <p:sp>
        <p:nvSpPr>
          <p:cNvPr id="13" name="Text 9"/>
          <p:cNvSpPr txBox="1"/>
          <p:nvPr/>
        </p:nvSpPr>
        <p:spPr>
          <a:xfrm>
            <a:off x="1097280" y="2350008"/>
            <a:ext cx="3017520"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 compromise on materials or workmanship</a:t>
            </a:r>
            <a:endParaRPr lang="en-US" sz="1200" dirty="0"/>
          </a:p>
        </p:txBody>
      </p:sp>
      <p:sp>
        <p:nvSpPr>
          <p:cNvPr id="14" name="vi2"/>
          <p:cNvSpPr/>
          <p:nvPr/>
        </p:nvSpPr>
        <p:spPr>
          <a:xfrm>
            <a:off x="457200" y="2880360"/>
            <a:ext cx="502920" cy="502920"/>
          </a:xfrm>
          <a:prstGeom prst="ellipse">
            <a:avLst/>
          </a:prstGeom>
          <a:solidFill>
            <a:srgbClr val="6A45A6"/>
          </a:solidFill>
          <a:ln w="12700">
            <a:solidFill>
              <a:srgbClr val="6A45A6"/>
            </a:solidFill>
            <a:prstDash val="solid"/>
          </a:ln>
        </p:spPr>
      </p:sp>
      <p:pic>
        <p:nvPicPr>
          <p:cNvPr id="15" name="Image 2" descr="preencoded.png">    </p:cNvPr>
          <p:cNvPicPr>
            <a:picLocks noChangeAspect="1"/>
          </p:cNvPicPr>
          <p:nvPr/>
        </p:nvPicPr>
        <p:blipFill>
          <a:blip r:embed="rId3"/>
          <a:stretch>
            <a:fillRect/>
          </a:stretch>
        </p:blipFill>
        <p:spPr>
          <a:xfrm>
            <a:off x="582930" y="3006090"/>
            <a:ext cx="251460" cy="251460"/>
          </a:xfrm>
          <a:prstGeom prst="rect">
            <a:avLst/>
          </a:prstGeom>
        </p:spPr>
      </p:pic>
      <p:sp>
        <p:nvSpPr>
          <p:cNvPr id="16" name="Text 11"/>
          <p:cNvSpPr txBox="1"/>
          <p:nvPr/>
        </p:nvSpPr>
        <p:spPr>
          <a:xfrm>
            <a:off x="1097280" y="2898648"/>
            <a:ext cx="2743200" cy="2743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Safety</a:t>
            </a:r>
            <a:endParaRPr lang="en-US" sz="1400" dirty="0"/>
          </a:p>
        </p:txBody>
      </p:sp>
      <p:sp>
        <p:nvSpPr>
          <p:cNvPr id="17" name="Text 12"/>
          <p:cNvSpPr txBox="1"/>
          <p:nvPr/>
        </p:nvSpPr>
        <p:spPr>
          <a:xfrm>
            <a:off x="1097280" y="3172968"/>
            <a:ext cx="3017520"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Safe sites and structurally sound buildings</a:t>
            </a:r>
            <a:endParaRPr lang="en-US" sz="1200" dirty="0"/>
          </a:p>
        </p:txBody>
      </p:sp>
      <p:sp>
        <p:nvSpPr>
          <p:cNvPr id="18" name="vi3"/>
          <p:cNvSpPr/>
          <p:nvPr/>
        </p:nvSpPr>
        <p:spPr>
          <a:xfrm>
            <a:off x="457200" y="3703320"/>
            <a:ext cx="502920" cy="502920"/>
          </a:xfrm>
          <a:prstGeom prst="ellipse">
            <a:avLst/>
          </a:prstGeom>
          <a:solidFill>
            <a:srgbClr val="6A45A6"/>
          </a:solidFill>
          <a:ln w="12700">
            <a:solidFill>
              <a:srgbClr val="6A45A6"/>
            </a:solidFill>
            <a:prstDash val="solid"/>
          </a:ln>
        </p:spPr>
      </p:sp>
      <p:pic>
        <p:nvPicPr>
          <p:cNvPr id="19" name="Image 3" descr="preencoded.png">    </p:cNvPr>
          <p:cNvPicPr>
            <a:picLocks noChangeAspect="1"/>
          </p:cNvPicPr>
          <p:nvPr/>
        </p:nvPicPr>
        <p:blipFill>
          <a:blip r:embed="rId4"/>
          <a:stretch>
            <a:fillRect/>
          </a:stretch>
        </p:blipFill>
        <p:spPr>
          <a:xfrm>
            <a:off x="582930" y="3829050"/>
            <a:ext cx="251460" cy="251460"/>
          </a:xfrm>
          <a:prstGeom prst="rect">
            <a:avLst/>
          </a:prstGeom>
        </p:spPr>
      </p:pic>
      <p:sp>
        <p:nvSpPr>
          <p:cNvPr id="20" name="Text 14"/>
          <p:cNvSpPr txBox="1"/>
          <p:nvPr/>
        </p:nvSpPr>
        <p:spPr>
          <a:xfrm>
            <a:off x="1097280" y="3721608"/>
            <a:ext cx="2743200" cy="2743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Customer first</a:t>
            </a:r>
            <a:endParaRPr lang="en-US" sz="1400" dirty="0"/>
          </a:p>
        </p:txBody>
      </p:sp>
      <p:sp>
        <p:nvSpPr>
          <p:cNvPr id="21" name="Text 15"/>
          <p:cNvSpPr txBox="1"/>
          <p:nvPr/>
        </p:nvSpPr>
        <p:spPr>
          <a:xfrm>
            <a:off x="1097280" y="3995928"/>
            <a:ext cx="3017520"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We listen, update and deliver what we promise</a:t>
            </a:r>
            <a:endParaRPr lang="en-US" sz="1200" dirty="0"/>
          </a:p>
        </p:txBody>
      </p:sp>
      <p:sp>
        <p:nvSpPr>
          <p:cNvPr id="22" name="Text 16"/>
          <p:cNvSpPr txBox="1"/>
          <p:nvPr/>
        </p:nvSpPr>
        <p:spPr>
          <a:xfrm>
            <a:off x="4572000" y="1234440"/>
            <a:ext cx="2743200" cy="228600"/>
          </a:xfrm>
          <a:prstGeom prst="rect">
            <a:avLst/>
          </a:prstGeom>
          <a:noFill/>
          <a:ln/>
        </p:spPr>
        <p:txBody>
          <a:bodyPr wrap="square" lIns="0" tIns="0" rIns="0" bIns="0" rtlCol="0" anchor="t"/>
          <a:lstStyle/>
          <a:p>
            <a:pPr indent="0" marL="0">
              <a:buNone/>
            </a:pPr>
            <a:r>
              <a:rPr lang="en-US" sz="1000" b="1" spc="100" kern="0" dirty="0">
                <a:solidFill>
                  <a:schemeClr val="accent1"/>
                </a:solidFill>
                <a:latin typeface="Calibri" pitchFamily="34" charset="0"/>
                <a:ea typeface="Calibri" pitchFamily="34" charset="-122"/>
                <a:cs typeface="Calibri" pitchFamily="34" charset="-120"/>
              </a:rPr>
              <a:t>OUR APPROACH</a:t>
            </a:r>
            <a:endParaRPr lang="en-US" sz="1000" dirty="0"/>
          </a:p>
        </p:txBody>
      </p:sp>
      <p:sp>
        <p:nvSpPr>
          <p:cNvPr id="23" name="st0"/>
          <p:cNvSpPr/>
          <p:nvPr/>
        </p:nvSpPr>
        <p:spPr>
          <a:xfrm>
            <a:off x="4572000" y="1554480"/>
            <a:ext cx="411480" cy="411480"/>
          </a:xfrm>
          <a:prstGeom prst="ellipse">
            <a:avLst/>
          </a:prstGeom>
          <a:solidFill>
            <a:srgbClr val="1F1F5C"/>
          </a:solidFill>
          <a:ln w="12700">
            <a:solidFill>
              <a:srgbClr val="1F1F5C"/>
            </a:solidFill>
            <a:prstDash val="solid"/>
          </a:ln>
        </p:spPr>
      </p:sp>
      <p:sp>
        <p:nvSpPr>
          <p:cNvPr id="24" name="Text 18"/>
          <p:cNvSpPr txBox="1"/>
          <p:nvPr/>
        </p:nvSpPr>
        <p:spPr>
          <a:xfrm>
            <a:off x="4572000" y="155448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5" name="Text 19"/>
          <p:cNvSpPr txBox="1"/>
          <p:nvPr/>
        </p:nvSpPr>
        <p:spPr>
          <a:xfrm>
            <a:off x="5120640" y="1554480"/>
            <a:ext cx="356616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Understand your needs and budget</a:t>
            </a:r>
            <a:endParaRPr lang="en-US" sz="1300" dirty="0"/>
          </a:p>
        </p:txBody>
      </p:sp>
      <p:sp>
        <p:nvSpPr>
          <p:cNvPr id="26" name="st1"/>
          <p:cNvSpPr/>
          <p:nvPr/>
        </p:nvSpPr>
        <p:spPr>
          <a:xfrm>
            <a:off x="4572000" y="2157984"/>
            <a:ext cx="411480" cy="411480"/>
          </a:xfrm>
          <a:prstGeom prst="ellipse">
            <a:avLst/>
          </a:prstGeom>
          <a:solidFill>
            <a:srgbClr val="1F1F5C"/>
          </a:solidFill>
          <a:ln w="12700">
            <a:solidFill>
              <a:srgbClr val="1F1F5C"/>
            </a:solidFill>
            <a:prstDash val="solid"/>
          </a:ln>
        </p:spPr>
      </p:sp>
      <p:sp>
        <p:nvSpPr>
          <p:cNvPr id="27" name="Text 21"/>
          <p:cNvSpPr txBox="1"/>
          <p:nvPr/>
        </p:nvSpPr>
        <p:spPr>
          <a:xfrm>
            <a:off x="4572000" y="2157984"/>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8" name="Text 22"/>
          <p:cNvSpPr txBox="1"/>
          <p:nvPr/>
        </p:nvSpPr>
        <p:spPr>
          <a:xfrm>
            <a:off x="5120640" y="2157984"/>
            <a:ext cx="356616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Design and engineering drawings</a:t>
            </a:r>
            <a:endParaRPr lang="en-US" sz="1300" dirty="0"/>
          </a:p>
        </p:txBody>
      </p:sp>
      <p:sp>
        <p:nvSpPr>
          <p:cNvPr id="29" name="st2"/>
          <p:cNvSpPr/>
          <p:nvPr/>
        </p:nvSpPr>
        <p:spPr>
          <a:xfrm>
            <a:off x="4572000" y="2761488"/>
            <a:ext cx="411480" cy="411480"/>
          </a:xfrm>
          <a:prstGeom prst="ellipse">
            <a:avLst/>
          </a:prstGeom>
          <a:solidFill>
            <a:srgbClr val="1F1F5C"/>
          </a:solidFill>
          <a:ln w="12700">
            <a:solidFill>
              <a:srgbClr val="1F1F5C"/>
            </a:solidFill>
            <a:prstDash val="solid"/>
          </a:ln>
        </p:spPr>
      </p:sp>
      <p:sp>
        <p:nvSpPr>
          <p:cNvPr id="30" name="Text 24"/>
          <p:cNvSpPr txBox="1"/>
          <p:nvPr/>
        </p:nvSpPr>
        <p:spPr>
          <a:xfrm>
            <a:off x="4572000" y="2761488"/>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31" name="Text 25"/>
          <p:cNvSpPr txBox="1"/>
          <p:nvPr/>
        </p:nvSpPr>
        <p:spPr>
          <a:xfrm>
            <a:off x="5120640" y="2761488"/>
            <a:ext cx="356616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Approvals and detailed estimate</a:t>
            </a:r>
            <a:endParaRPr lang="en-US" sz="1300" dirty="0"/>
          </a:p>
        </p:txBody>
      </p:sp>
      <p:sp>
        <p:nvSpPr>
          <p:cNvPr id="32" name="st3"/>
          <p:cNvSpPr/>
          <p:nvPr/>
        </p:nvSpPr>
        <p:spPr>
          <a:xfrm>
            <a:off x="4572000" y="3364992"/>
            <a:ext cx="411480" cy="411480"/>
          </a:xfrm>
          <a:prstGeom prst="ellipse">
            <a:avLst/>
          </a:prstGeom>
          <a:solidFill>
            <a:srgbClr val="1F1F5C"/>
          </a:solidFill>
          <a:ln w="12700">
            <a:solidFill>
              <a:srgbClr val="1F1F5C"/>
            </a:solidFill>
            <a:prstDash val="solid"/>
          </a:ln>
        </p:spPr>
      </p:sp>
      <p:sp>
        <p:nvSpPr>
          <p:cNvPr id="33" name="Text 27"/>
          <p:cNvSpPr txBox="1"/>
          <p:nvPr/>
        </p:nvSpPr>
        <p:spPr>
          <a:xfrm>
            <a:off x="4572000" y="336499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34" name="Text 28"/>
          <p:cNvSpPr txBox="1"/>
          <p:nvPr/>
        </p:nvSpPr>
        <p:spPr>
          <a:xfrm>
            <a:off x="5120640" y="3364992"/>
            <a:ext cx="356616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Construction with quality checks</a:t>
            </a:r>
            <a:endParaRPr lang="en-US" sz="1300" dirty="0"/>
          </a:p>
        </p:txBody>
      </p:sp>
      <p:sp>
        <p:nvSpPr>
          <p:cNvPr id="35" name="st4"/>
          <p:cNvSpPr/>
          <p:nvPr/>
        </p:nvSpPr>
        <p:spPr>
          <a:xfrm>
            <a:off x="4572000" y="3968496"/>
            <a:ext cx="411480" cy="411480"/>
          </a:xfrm>
          <a:prstGeom prst="ellipse">
            <a:avLst/>
          </a:prstGeom>
          <a:solidFill>
            <a:srgbClr val="1F1F5C"/>
          </a:solidFill>
          <a:ln w="12700">
            <a:solidFill>
              <a:srgbClr val="1F1F5C"/>
            </a:solidFill>
            <a:prstDash val="solid"/>
          </a:ln>
        </p:spPr>
      </p:sp>
      <p:sp>
        <p:nvSpPr>
          <p:cNvPr id="36" name="Text 30"/>
          <p:cNvSpPr txBox="1"/>
          <p:nvPr/>
        </p:nvSpPr>
        <p:spPr>
          <a:xfrm>
            <a:off x="4572000" y="3968496"/>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5</a:t>
            </a:r>
            <a:endParaRPr lang="en-US" sz="1300" dirty="0"/>
          </a:p>
        </p:txBody>
      </p:sp>
      <p:sp>
        <p:nvSpPr>
          <p:cNvPr id="37" name="Text 31"/>
          <p:cNvSpPr txBox="1"/>
          <p:nvPr/>
        </p:nvSpPr>
        <p:spPr>
          <a:xfrm>
            <a:off x="5120640" y="3968496"/>
            <a:ext cx="356616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Handover and after-sales support</a:t>
            </a:r>
            <a:endParaRPr lang="en-US" sz="1300" dirty="0"/>
          </a:p>
        </p:txBody>
      </p:sp>
      <p:sp>
        <p:nvSpPr>
          <p:cNvPr id="38" name="Text 32"/>
          <p:cNvSpPr txBox="1"/>
          <p:nvPr/>
        </p:nvSpPr>
        <p:spPr>
          <a:xfrm>
            <a:off x="4572000" y="4526280"/>
            <a:ext cx="4114800" cy="274320"/>
          </a:xfrm>
          <a:prstGeom prst="rect">
            <a:avLst/>
          </a:prstGeom>
          <a:noFill/>
          <a:ln/>
        </p:spPr>
        <p:txBody>
          <a:bodyPr wrap="square" lIns="0" tIns="0" rIns="0" bIns="0" rtlCol="0" anchor="t"/>
          <a:lstStyle/>
          <a:p>
            <a:pPr indent="0" marL="0">
              <a:buNone/>
            </a:pPr>
            <a:r>
              <a:rPr lang="en-US" sz="1050" b="1" i="1" dirty="0">
                <a:solidFill>
                  <a:schemeClr val="accent5"/>
                </a:solidFill>
                <a:latin typeface="Calibri" pitchFamily="34" charset="0"/>
                <a:ea typeface="Calibri" pitchFamily="34" charset="-122"/>
                <a:cs typeface="Calibri" pitchFamily="34" charset="-120"/>
              </a:rPr>
              <a:t>Optional: </a:t>
            </a:r>
            <a:pPr indent="0" marL="0">
              <a:buNone/>
            </a:pPr>
            <a:r>
              <a:rPr lang="en-US" sz="1050" i="1" dirty="0">
                <a:solidFill>
                  <a:schemeClr val="accent5"/>
                </a:solidFill>
                <a:latin typeface="Calibri" pitchFamily="34" charset="0"/>
                <a:ea typeface="Calibri" pitchFamily="34" charset="-122"/>
                <a:cs typeface="Calibri" pitchFamily="34" charset="-120"/>
              </a:rPr>
              <a:t>add a “Meet our founder” block with photo, name, qualification and a two-line message.</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PROJECTS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Listing page</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Our Projects: Spaces Built to Last</a:t>
            </a:r>
            <a:endParaRPr lang="en-US" sz="2400" dirty="0"/>
          </a:p>
        </p:txBody>
      </p:sp>
      <p:sp>
        <p:nvSpPr>
          <p:cNvPr id="6" name="Text 4"/>
          <p:cNvSpPr txBox="1"/>
          <p:nvPr/>
        </p:nvSpPr>
        <p:spPr>
          <a:xfrm>
            <a:off x="457200" y="1188720"/>
            <a:ext cx="822960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From independent homes to commercial buildings, each Shri Lakshmi project reflects careful planning, quality construction and attention to detail. Explore our work across Bengaluru.</a:t>
            </a:r>
            <a:endParaRPr lang="en-US" sz="1300" dirty="0"/>
          </a:p>
        </p:txBody>
      </p:sp>
      <p:sp>
        <p:nvSpPr>
          <p:cNvPr id="7" name="flt0"/>
          <p:cNvSpPr/>
          <p:nvPr/>
        </p:nvSpPr>
        <p:spPr>
          <a:xfrm>
            <a:off x="457200" y="1783080"/>
            <a:ext cx="1005840" cy="320040"/>
          </a:xfrm>
          <a:prstGeom prst="roundRect">
            <a:avLst>
              <a:gd name="adj" fmla="val 22857"/>
            </a:avLst>
          </a:prstGeom>
          <a:solidFill>
            <a:srgbClr val="6A45A6"/>
          </a:solidFill>
          <a:ln w="12700">
            <a:solidFill>
              <a:srgbClr val="6A45A6"/>
            </a:solidFill>
            <a:prstDash val="solid"/>
          </a:ln>
        </p:spPr>
      </p:sp>
      <p:sp>
        <p:nvSpPr>
          <p:cNvPr id="8" name="Text 6"/>
          <p:cNvSpPr txBox="1"/>
          <p:nvPr/>
        </p:nvSpPr>
        <p:spPr>
          <a:xfrm>
            <a:off x="457200" y="1783080"/>
            <a:ext cx="10058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All</a:t>
            </a:r>
            <a:endParaRPr lang="en-US" sz="1100" dirty="0"/>
          </a:p>
        </p:txBody>
      </p:sp>
      <p:sp>
        <p:nvSpPr>
          <p:cNvPr id="9" name="flt1"/>
          <p:cNvSpPr/>
          <p:nvPr/>
        </p:nvSpPr>
        <p:spPr>
          <a:xfrm>
            <a:off x="1600200" y="1783080"/>
            <a:ext cx="1005840" cy="320040"/>
          </a:xfrm>
          <a:prstGeom prst="roundRect">
            <a:avLst>
              <a:gd name="adj" fmla="val 22857"/>
            </a:avLst>
          </a:prstGeom>
          <a:solidFill>
            <a:srgbClr val="F4F1FA"/>
          </a:solidFill>
          <a:ln w="12700">
            <a:solidFill>
              <a:srgbClr val="F4F1FA"/>
            </a:solidFill>
            <a:prstDash val="solid"/>
          </a:ln>
        </p:spPr>
      </p:sp>
      <p:sp>
        <p:nvSpPr>
          <p:cNvPr id="10" name="Text 8"/>
          <p:cNvSpPr txBox="1"/>
          <p:nvPr/>
        </p:nvSpPr>
        <p:spPr>
          <a:xfrm>
            <a:off x="1600200" y="1783080"/>
            <a:ext cx="1005840" cy="320040"/>
          </a:xfrm>
          <a:prstGeom prst="rect">
            <a:avLst/>
          </a:prstGeom>
          <a:noFill/>
          <a:ln/>
        </p:spPr>
        <p:txBody>
          <a:bodyPr wrap="square" lIns="0" tIns="0" rIns="0" bIns="0" rtlCol="0" anchor="ctr"/>
          <a:lstStyle/>
          <a:p>
            <a:pPr algn="ctr" indent="0" marL="0">
              <a:buNone/>
            </a:pPr>
            <a:r>
              <a:rPr lang="en-US" sz="1100" b="1" dirty="0">
                <a:solidFill>
                  <a:srgbClr val="1F1F5C"/>
                </a:solidFill>
                <a:latin typeface="Calibri" pitchFamily="34" charset="0"/>
                <a:ea typeface="Calibri" pitchFamily="34" charset="-122"/>
                <a:cs typeface="Calibri" pitchFamily="34" charset="-120"/>
              </a:rPr>
              <a:t>Ongoing</a:t>
            </a:r>
            <a:endParaRPr lang="en-US" sz="1100" dirty="0"/>
          </a:p>
        </p:txBody>
      </p:sp>
      <p:sp>
        <p:nvSpPr>
          <p:cNvPr id="11" name="flt2"/>
          <p:cNvSpPr/>
          <p:nvPr/>
        </p:nvSpPr>
        <p:spPr>
          <a:xfrm>
            <a:off x="2743200" y="1783080"/>
            <a:ext cx="1005840" cy="320040"/>
          </a:xfrm>
          <a:prstGeom prst="roundRect">
            <a:avLst>
              <a:gd name="adj" fmla="val 22857"/>
            </a:avLst>
          </a:prstGeom>
          <a:solidFill>
            <a:srgbClr val="F4F1FA"/>
          </a:solidFill>
          <a:ln w="12700">
            <a:solidFill>
              <a:srgbClr val="F4F1FA"/>
            </a:solidFill>
            <a:prstDash val="solid"/>
          </a:ln>
        </p:spPr>
      </p:sp>
      <p:sp>
        <p:nvSpPr>
          <p:cNvPr id="12" name="Text 10"/>
          <p:cNvSpPr txBox="1"/>
          <p:nvPr/>
        </p:nvSpPr>
        <p:spPr>
          <a:xfrm>
            <a:off x="2743200" y="1783080"/>
            <a:ext cx="1005840" cy="320040"/>
          </a:xfrm>
          <a:prstGeom prst="rect">
            <a:avLst/>
          </a:prstGeom>
          <a:noFill/>
          <a:ln/>
        </p:spPr>
        <p:txBody>
          <a:bodyPr wrap="square" lIns="0" tIns="0" rIns="0" bIns="0" rtlCol="0" anchor="ctr"/>
          <a:lstStyle/>
          <a:p>
            <a:pPr algn="ctr" indent="0" marL="0">
              <a:buNone/>
            </a:pPr>
            <a:r>
              <a:rPr lang="en-US" sz="1100" b="1" dirty="0">
                <a:solidFill>
                  <a:srgbClr val="1F1F5C"/>
                </a:solidFill>
                <a:latin typeface="Calibri" pitchFamily="34" charset="0"/>
                <a:ea typeface="Calibri" pitchFamily="34" charset="-122"/>
                <a:cs typeface="Calibri" pitchFamily="34" charset="-120"/>
              </a:rPr>
              <a:t>Completed</a:t>
            </a:r>
            <a:endParaRPr lang="en-US" sz="1100" dirty="0"/>
          </a:p>
        </p:txBody>
      </p:sp>
      <p:sp>
        <p:nvSpPr>
          <p:cNvPr id="13" name="flt3"/>
          <p:cNvSpPr/>
          <p:nvPr/>
        </p:nvSpPr>
        <p:spPr>
          <a:xfrm>
            <a:off x="3886200" y="1783080"/>
            <a:ext cx="1005840" cy="320040"/>
          </a:xfrm>
          <a:prstGeom prst="roundRect">
            <a:avLst>
              <a:gd name="adj" fmla="val 22857"/>
            </a:avLst>
          </a:prstGeom>
          <a:solidFill>
            <a:srgbClr val="F4F1FA"/>
          </a:solidFill>
          <a:ln w="12700">
            <a:solidFill>
              <a:srgbClr val="F4F1FA"/>
            </a:solidFill>
            <a:prstDash val="solid"/>
          </a:ln>
        </p:spPr>
      </p:sp>
      <p:sp>
        <p:nvSpPr>
          <p:cNvPr id="14" name="Text 12"/>
          <p:cNvSpPr txBox="1"/>
          <p:nvPr/>
        </p:nvSpPr>
        <p:spPr>
          <a:xfrm>
            <a:off x="3886200" y="1783080"/>
            <a:ext cx="1005840" cy="320040"/>
          </a:xfrm>
          <a:prstGeom prst="rect">
            <a:avLst/>
          </a:prstGeom>
          <a:noFill/>
          <a:ln/>
        </p:spPr>
        <p:txBody>
          <a:bodyPr wrap="square" lIns="0" tIns="0" rIns="0" bIns="0" rtlCol="0" anchor="ctr"/>
          <a:lstStyle/>
          <a:p>
            <a:pPr algn="ctr" indent="0" marL="0">
              <a:buNone/>
            </a:pPr>
            <a:r>
              <a:rPr lang="en-US" sz="1100" b="1" dirty="0">
                <a:solidFill>
                  <a:srgbClr val="1F1F5C"/>
                </a:solidFill>
                <a:latin typeface="Calibri" pitchFamily="34" charset="0"/>
                <a:ea typeface="Calibri" pitchFamily="34" charset="-122"/>
                <a:cs typeface="Calibri" pitchFamily="34" charset="-120"/>
              </a:rPr>
              <a:t>Upcoming</a:t>
            </a:r>
            <a:endParaRPr lang="en-US" sz="1100" dirty="0"/>
          </a:p>
        </p:txBody>
      </p:sp>
      <p:sp>
        <p:nvSpPr>
          <p:cNvPr id="15" name="pc0"/>
          <p:cNvSpPr/>
          <p:nvPr/>
        </p:nvSpPr>
        <p:spPr>
          <a:xfrm>
            <a:off x="457200" y="2286000"/>
            <a:ext cx="2651760" cy="2286000"/>
          </a:xfrm>
          <a:prstGeom prst="roundRect">
            <a:avLst>
              <a:gd name="adj" fmla="val 3200"/>
            </a:avLst>
          </a:prstGeom>
          <a:solidFill>
            <a:srgbClr val="F4F1FA"/>
          </a:solidFill>
          <a:ln w="12700">
            <a:solidFill>
              <a:srgbClr val="F4F1FA"/>
            </a:solidFill>
            <a:prstDash val="solid"/>
          </a:ln>
        </p:spPr>
      </p:sp>
      <p:sp>
        <p:nvSpPr>
          <p:cNvPr id="16" name="pcimg0"/>
          <p:cNvSpPr/>
          <p:nvPr/>
        </p:nvSpPr>
        <p:spPr>
          <a:xfrm>
            <a:off x="594360" y="2423160"/>
            <a:ext cx="2377440" cy="822960"/>
          </a:xfrm>
          <a:prstGeom prst="rect">
            <a:avLst/>
          </a:prstGeom>
          <a:solidFill>
            <a:srgbClr val="DCD3EE"/>
          </a:solidFill>
          <a:ln w="12700">
            <a:solidFill>
              <a:srgbClr val="DCD3EE"/>
            </a:solidFill>
            <a:prstDash val="solid"/>
          </a:ln>
        </p:spPr>
      </p:sp>
      <p:sp>
        <p:nvSpPr>
          <p:cNvPr id="17" name="Text 15"/>
          <p:cNvSpPr txBox="1"/>
          <p:nvPr/>
        </p:nvSpPr>
        <p:spPr>
          <a:xfrm>
            <a:off x="594360" y="2423160"/>
            <a:ext cx="2377440" cy="82296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Project photo</a:t>
            </a:r>
            <a:endParaRPr lang="en-US" sz="1000" dirty="0"/>
          </a:p>
        </p:txBody>
      </p:sp>
      <p:sp>
        <p:nvSpPr>
          <p:cNvPr id="18" name="pcst0"/>
          <p:cNvSpPr/>
          <p:nvPr/>
        </p:nvSpPr>
        <p:spPr>
          <a:xfrm>
            <a:off x="594360" y="3337560"/>
            <a:ext cx="914400" cy="237744"/>
          </a:xfrm>
          <a:prstGeom prst="roundRect">
            <a:avLst>
              <a:gd name="adj" fmla="val 30769"/>
            </a:avLst>
          </a:prstGeom>
          <a:solidFill>
            <a:srgbClr val="2D52A9"/>
          </a:solidFill>
          <a:ln w="12700">
            <a:solidFill>
              <a:srgbClr val="2D52A9"/>
            </a:solidFill>
            <a:prstDash val="solid"/>
          </a:ln>
        </p:spPr>
      </p:sp>
      <p:sp>
        <p:nvSpPr>
          <p:cNvPr id="19" name="Text 17"/>
          <p:cNvSpPr txBox="1"/>
          <p:nvPr/>
        </p:nvSpPr>
        <p:spPr>
          <a:xfrm>
            <a:off x="594360" y="3337560"/>
            <a:ext cx="9144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Ongoing</a:t>
            </a:r>
            <a:endParaRPr lang="en-US" sz="950" dirty="0"/>
          </a:p>
        </p:txBody>
      </p:sp>
      <p:sp>
        <p:nvSpPr>
          <p:cNvPr id="20" name="Text 18"/>
          <p:cNvSpPr txBox="1"/>
          <p:nvPr/>
        </p:nvSpPr>
        <p:spPr>
          <a:xfrm>
            <a:off x="594360" y="3639312"/>
            <a:ext cx="2377440" cy="457200"/>
          </a:xfrm>
          <a:prstGeom prst="rect">
            <a:avLst/>
          </a:prstGeom>
          <a:noFill/>
          <a:ln/>
        </p:spPr>
        <p:txBody>
          <a:bodyPr wrap="square" lIns="0" tIns="0" rIns="0" bIns="0" rtlCol="0" anchor="t"/>
          <a:lstStyle/>
          <a:p>
            <a:pPr indent="0" marL="0">
              <a:buNone/>
            </a:pPr>
            <a:r>
              <a:rPr lang="en-US" sz="1200" b="1" i="1" dirty="0">
                <a:solidFill>
                  <a:srgbClr val="C2410C"/>
                </a:solidFill>
                <a:latin typeface="Calibri" pitchFamily="34" charset="0"/>
                <a:ea typeface="Calibri" pitchFamily="34" charset="-122"/>
                <a:cs typeface="Calibri" pitchFamily="34" charset="-120"/>
              </a:rPr>
              <a:t>[Project name]</a:t>
            </a:r>
            <a:pPr indent="0" marL="0">
              <a:buNone/>
            </a:pPr>
            <a:endParaRPr lang="en-US" sz="1200" dirty="0"/>
          </a:p>
          <a:p>
            <a:pPr indent="0" marL="0">
              <a:buNone/>
            </a:pPr>
            <a:r>
              <a:rPr lang="en-US" sz="1200" b="1" dirty="0">
                <a:solidFill>
                  <a:srgbClr val="6B7280"/>
                </a:solidFill>
                <a:latin typeface="Calibri" pitchFamily="34" charset="0"/>
                <a:ea typeface="Calibri" pitchFamily="34" charset="-122"/>
                <a:cs typeface="Calibri" pitchFamily="34" charset="-120"/>
              </a:rPr>
              <a:t>[Locality], Bengaluru</a:t>
            </a:r>
            <a:endParaRPr lang="en-US" sz="1200" dirty="0"/>
          </a:p>
        </p:txBody>
      </p:sp>
      <p:sp>
        <p:nvSpPr>
          <p:cNvPr id="21" name="Text 19"/>
          <p:cNvSpPr txBox="1"/>
          <p:nvPr/>
        </p:nvSpPr>
        <p:spPr>
          <a:xfrm>
            <a:off x="594360" y="4160520"/>
            <a:ext cx="2377440" cy="274320"/>
          </a:xfrm>
          <a:prstGeom prst="rect">
            <a:avLst/>
          </a:prstGeom>
          <a:noFill/>
          <a:ln/>
        </p:spPr>
        <p:txBody>
          <a:bodyPr wrap="square" lIns="0" tIns="0" rIns="0" bIns="0" rtlCol="0" anchor="t"/>
          <a:lstStyle/>
          <a:p>
            <a:pPr indent="0" marL="0">
              <a:buNone/>
            </a:pPr>
            <a:r>
              <a:rPr lang="en-US" sz="1100" b="1" dirty="0">
                <a:solidFill>
                  <a:srgbClr val="6A45A6"/>
                </a:solidFill>
                <a:latin typeface="Calibri" pitchFamily="34" charset="0"/>
                <a:ea typeface="Calibri" pitchFamily="34" charset="-122"/>
                <a:cs typeface="Calibri" pitchFamily="34" charset="-120"/>
              </a:rPr>
              <a:t>Residential · [G+3] · View details →</a:t>
            </a:r>
            <a:endParaRPr lang="en-US" sz="1100" dirty="0"/>
          </a:p>
        </p:txBody>
      </p:sp>
      <p:sp>
        <p:nvSpPr>
          <p:cNvPr id="22" name="pc1"/>
          <p:cNvSpPr/>
          <p:nvPr/>
        </p:nvSpPr>
        <p:spPr>
          <a:xfrm>
            <a:off x="3246120" y="2286000"/>
            <a:ext cx="2651760" cy="2286000"/>
          </a:xfrm>
          <a:prstGeom prst="roundRect">
            <a:avLst>
              <a:gd name="adj" fmla="val 3200"/>
            </a:avLst>
          </a:prstGeom>
          <a:solidFill>
            <a:srgbClr val="F4F1FA"/>
          </a:solidFill>
          <a:ln w="12700">
            <a:solidFill>
              <a:srgbClr val="F4F1FA"/>
            </a:solidFill>
            <a:prstDash val="solid"/>
          </a:ln>
        </p:spPr>
      </p:sp>
      <p:sp>
        <p:nvSpPr>
          <p:cNvPr id="23" name="pcimg1"/>
          <p:cNvSpPr/>
          <p:nvPr/>
        </p:nvSpPr>
        <p:spPr>
          <a:xfrm>
            <a:off x="3383280" y="2423160"/>
            <a:ext cx="2377440" cy="822960"/>
          </a:xfrm>
          <a:prstGeom prst="rect">
            <a:avLst/>
          </a:prstGeom>
          <a:solidFill>
            <a:srgbClr val="DCD3EE"/>
          </a:solidFill>
          <a:ln w="12700">
            <a:solidFill>
              <a:srgbClr val="DCD3EE"/>
            </a:solidFill>
            <a:prstDash val="solid"/>
          </a:ln>
        </p:spPr>
      </p:sp>
      <p:sp>
        <p:nvSpPr>
          <p:cNvPr id="24" name="Text 22"/>
          <p:cNvSpPr txBox="1"/>
          <p:nvPr/>
        </p:nvSpPr>
        <p:spPr>
          <a:xfrm>
            <a:off x="3383280" y="2423160"/>
            <a:ext cx="2377440" cy="82296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Project photo</a:t>
            </a:r>
            <a:endParaRPr lang="en-US" sz="1000" dirty="0"/>
          </a:p>
        </p:txBody>
      </p:sp>
      <p:sp>
        <p:nvSpPr>
          <p:cNvPr id="25" name="pcst1"/>
          <p:cNvSpPr/>
          <p:nvPr/>
        </p:nvSpPr>
        <p:spPr>
          <a:xfrm>
            <a:off x="3383280" y="3337560"/>
            <a:ext cx="914400" cy="237744"/>
          </a:xfrm>
          <a:prstGeom prst="roundRect">
            <a:avLst>
              <a:gd name="adj" fmla="val 30769"/>
            </a:avLst>
          </a:prstGeom>
          <a:solidFill>
            <a:srgbClr val="2F7D4F"/>
          </a:solidFill>
          <a:ln w="12700">
            <a:solidFill>
              <a:srgbClr val="2F7D4F"/>
            </a:solidFill>
            <a:prstDash val="solid"/>
          </a:ln>
        </p:spPr>
      </p:sp>
      <p:sp>
        <p:nvSpPr>
          <p:cNvPr id="26" name="Text 24"/>
          <p:cNvSpPr txBox="1"/>
          <p:nvPr/>
        </p:nvSpPr>
        <p:spPr>
          <a:xfrm>
            <a:off x="3383280" y="3337560"/>
            <a:ext cx="9144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Completed</a:t>
            </a:r>
            <a:endParaRPr lang="en-US" sz="950" dirty="0"/>
          </a:p>
        </p:txBody>
      </p:sp>
      <p:sp>
        <p:nvSpPr>
          <p:cNvPr id="27" name="Text 25"/>
          <p:cNvSpPr txBox="1"/>
          <p:nvPr/>
        </p:nvSpPr>
        <p:spPr>
          <a:xfrm>
            <a:off x="3383280" y="3639312"/>
            <a:ext cx="2377440" cy="457200"/>
          </a:xfrm>
          <a:prstGeom prst="rect">
            <a:avLst/>
          </a:prstGeom>
          <a:noFill/>
          <a:ln/>
        </p:spPr>
        <p:txBody>
          <a:bodyPr wrap="square" lIns="0" tIns="0" rIns="0" bIns="0" rtlCol="0" anchor="t"/>
          <a:lstStyle/>
          <a:p>
            <a:pPr indent="0" marL="0">
              <a:buNone/>
            </a:pPr>
            <a:r>
              <a:rPr lang="en-US" sz="1200" b="1" i="1" dirty="0">
                <a:solidFill>
                  <a:srgbClr val="C2410C"/>
                </a:solidFill>
                <a:latin typeface="Calibri" pitchFamily="34" charset="0"/>
                <a:ea typeface="Calibri" pitchFamily="34" charset="-122"/>
                <a:cs typeface="Calibri" pitchFamily="34" charset="-120"/>
              </a:rPr>
              <a:t>[Project name]</a:t>
            </a:r>
            <a:pPr indent="0" marL="0">
              <a:buNone/>
            </a:pPr>
            <a:endParaRPr lang="en-US" sz="1200" dirty="0"/>
          </a:p>
          <a:p>
            <a:pPr indent="0" marL="0">
              <a:buNone/>
            </a:pPr>
            <a:r>
              <a:rPr lang="en-US" sz="1200" b="1" dirty="0">
                <a:solidFill>
                  <a:srgbClr val="6B7280"/>
                </a:solidFill>
                <a:latin typeface="Calibri" pitchFamily="34" charset="0"/>
                <a:ea typeface="Calibri" pitchFamily="34" charset="-122"/>
                <a:cs typeface="Calibri" pitchFamily="34" charset="-120"/>
              </a:rPr>
              <a:t>[Locality], Bengaluru</a:t>
            </a:r>
            <a:endParaRPr lang="en-US" sz="1200" dirty="0"/>
          </a:p>
        </p:txBody>
      </p:sp>
      <p:sp>
        <p:nvSpPr>
          <p:cNvPr id="28" name="Text 26"/>
          <p:cNvSpPr txBox="1"/>
          <p:nvPr/>
        </p:nvSpPr>
        <p:spPr>
          <a:xfrm>
            <a:off x="3383280" y="4160520"/>
            <a:ext cx="2377440" cy="274320"/>
          </a:xfrm>
          <a:prstGeom prst="rect">
            <a:avLst/>
          </a:prstGeom>
          <a:noFill/>
          <a:ln/>
        </p:spPr>
        <p:txBody>
          <a:bodyPr wrap="square" lIns="0" tIns="0" rIns="0" bIns="0" rtlCol="0" anchor="t"/>
          <a:lstStyle/>
          <a:p>
            <a:pPr indent="0" marL="0">
              <a:buNone/>
            </a:pPr>
            <a:r>
              <a:rPr lang="en-US" sz="1100" b="1" dirty="0">
                <a:solidFill>
                  <a:srgbClr val="6A45A6"/>
                </a:solidFill>
                <a:latin typeface="Calibri" pitchFamily="34" charset="0"/>
                <a:ea typeface="Calibri" pitchFamily="34" charset="-122"/>
                <a:cs typeface="Calibri" pitchFamily="34" charset="-120"/>
              </a:rPr>
              <a:t>Residential · [G+3] · View details →</a:t>
            </a:r>
            <a:endParaRPr lang="en-US" sz="1100" dirty="0"/>
          </a:p>
        </p:txBody>
      </p:sp>
      <p:sp>
        <p:nvSpPr>
          <p:cNvPr id="29" name="pc2"/>
          <p:cNvSpPr/>
          <p:nvPr/>
        </p:nvSpPr>
        <p:spPr>
          <a:xfrm>
            <a:off x="6035040" y="2286000"/>
            <a:ext cx="2651760" cy="2286000"/>
          </a:xfrm>
          <a:prstGeom prst="roundRect">
            <a:avLst>
              <a:gd name="adj" fmla="val 3200"/>
            </a:avLst>
          </a:prstGeom>
          <a:solidFill>
            <a:srgbClr val="F4F1FA"/>
          </a:solidFill>
          <a:ln w="12700">
            <a:solidFill>
              <a:srgbClr val="F4F1FA"/>
            </a:solidFill>
            <a:prstDash val="solid"/>
          </a:ln>
        </p:spPr>
      </p:sp>
      <p:sp>
        <p:nvSpPr>
          <p:cNvPr id="30" name="pcimg2"/>
          <p:cNvSpPr/>
          <p:nvPr/>
        </p:nvSpPr>
        <p:spPr>
          <a:xfrm>
            <a:off x="6172200" y="2423160"/>
            <a:ext cx="2377440" cy="822960"/>
          </a:xfrm>
          <a:prstGeom prst="rect">
            <a:avLst/>
          </a:prstGeom>
          <a:solidFill>
            <a:srgbClr val="DCD3EE"/>
          </a:solidFill>
          <a:ln w="12700">
            <a:solidFill>
              <a:srgbClr val="DCD3EE"/>
            </a:solidFill>
            <a:prstDash val="solid"/>
          </a:ln>
        </p:spPr>
      </p:sp>
      <p:sp>
        <p:nvSpPr>
          <p:cNvPr id="31" name="Text 29"/>
          <p:cNvSpPr txBox="1"/>
          <p:nvPr/>
        </p:nvSpPr>
        <p:spPr>
          <a:xfrm>
            <a:off x="6172200" y="2423160"/>
            <a:ext cx="2377440" cy="82296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Project photo</a:t>
            </a:r>
            <a:endParaRPr lang="en-US" sz="1000" dirty="0"/>
          </a:p>
        </p:txBody>
      </p:sp>
      <p:sp>
        <p:nvSpPr>
          <p:cNvPr id="32" name="pcst2"/>
          <p:cNvSpPr/>
          <p:nvPr/>
        </p:nvSpPr>
        <p:spPr>
          <a:xfrm>
            <a:off x="6172200" y="3337560"/>
            <a:ext cx="914400" cy="237744"/>
          </a:xfrm>
          <a:prstGeom prst="roundRect">
            <a:avLst>
              <a:gd name="adj" fmla="val 30769"/>
            </a:avLst>
          </a:prstGeom>
          <a:solidFill>
            <a:srgbClr val="6A45A6"/>
          </a:solidFill>
          <a:ln w="12700">
            <a:solidFill>
              <a:srgbClr val="6A45A6"/>
            </a:solidFill>
            <a:prstDash val="solid"/>
          </a:ln>
        </p:spPr>
      </p:sp>
      <p:sp>
        <p:nvSpPr>
          <p:cNvPr id="33" name="Text 31"/>
          <p:cNvSpPr txBox="1"/>
          <p:nvPr/>
        </p:nvSpPr>
        <p:spPr>
          <a:xfrm>
            <a:off x="6172200" y="3337560"/>
            <a:ext cx="9144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Upcoming</a:t>
            </a:r>
            <a:endParaRPr lang="en-US" sz="950" dirty="0"/>
          </a:p>
        </p:txBody>
      </p:sp>
      <p:sp>
        <p:nvSpPr>
          <p:cNvPr id="34" name="Text 32"/>
          <p:cNvSpPr txBox="1"/>
          <p:nvPr/>
        </p:nvSpPr>
        <p:spPr>
          <a:xfrm>
            <a:off x="6172200" y="3639312"/>
            <a:ext cx="2377440" cy="457200"/>
          </a:xfrm>
          <a:prstGeom prst="rect">
            <a:avLst/>
          </a:prstGeom>
          <a:noFill/>
          <a:ln/>
        </p:spPr>
        <p:txBody>
          <a:bodyPr wrap="square" lIns="0" tIns="0" rIns="0" bIns="0" rtlCol="0" anchor="t"/>
          <a:lstStyle/>
          <a:p>
            <a:pPr indent="0" marL="0">
              <a:buNone/>
            </a:pPr>
            <a:r>
              <a:rPr lang="en-US" sz="1200" b="1" i="1" dirty="0">
                <a:solidFill>
                  <a:srgbClr val="C2410C"/>
                </a:solidFill>
                <a:latin typeface="Calibri" pitchFamily="34" charset="0"/>
                <a:ea typeface="Calibri" pitchFamily="34" charset="-122"/>
                <a:cs typeface="Calibri" pitchFamily="34" charset="-120"/>
              </a:rPr>
              <a:t>[Project name]</a:t>
            </a:r>
            <a:pPr indent="0" marL="0">
              <a:buNone/>
            </a:pPr>
            <a:endParaRPr lang="en-US" sz="1200" dirty="0"/>
          </a:p>
          <a:p>
            <a:pPr indent="0" marL="0">
              <a:buNone/>
            </a:pPr>
            <a:r>
              <a:rPr lang="en-US" sz="1200" b="1" dirty="0">
                <a:solidFill>
                  <a:srgbClr val="6B7280"/>
                </a:solidFill>
                <a:latin typeface="Calibri" pitchFamily="34" charset="0"/>
                <a:ea typeface="Calibri" pitchFamily="34" charset="-122"/>
                <a:cs typeface="Calibri" pitchFamily="34" charset="-120"/>
              </a:rPr>
              <a:t>[Locality], Bengaluru</a:t>
            </a:r>
            <a:endParaRPr lang="en-US" sz="1200" dirty="0"/>
          </a:p>
        </p:txBody>
      </p:sp>
      <p:sp>
        <p:nvSpPr>
          <p:cNvPr id="35" name="Text 33"/>
          <p:cNvSpPr txBox="1"/>
          <p:nvPr/>
        </p:nvSpPr>
        <p:spPr>
          <a:xfrm>
            <a:off x="6172200" y="4160520"/>
            <a:ext cx="2377440" cy="274320"/>
          </a:xfrm>
          <a:prstGeom prst="rect">
            <a:avLst/>
          </a:prstGeom>
          <a:noFill/>
          <a:ln/>
        </p:spPr>
        <p:txBody>
          <a:bodyPr wrap="square" lIns="0" tIns="0" rIns="0" bIns="0" rtlCol="0" anchor="t"/>
          <a:lstStyle/>
          <a:p>
            <a:pPr indent="0" marL="0">
              <a:buNone/>
            </a:pPr>
            <a:r>
              <a:rPr lang="en-US" sz="1100" b="1" dirty="0">
                <a:solidFill>
                  <a:srgbClr val="6A45A6"/>
                </a:solidFill>
                <a:latin typeface="Calibri" pitchFamily="34" charset="0"/>
                <a:ea typeface="Calibri" pitchFamily="34" charset="-122"/>
                <a:cs typeface="Calibri" pitchFamily="34" charset="-120"/>
              </a:rPr>
              <a:t>Residential · [G+3] · View details →</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PROJECTS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Project detail page template</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What every project page should include</a:t>
            </a:r>
            <a:endParaRPr lang="en-US" sz="2400" dirty="0"/>
          </a:p>
        </p:txBody>
      </p:sp>
      <p:sp>
        <p:nvSpPr>
          <p:cNvPr id="6" name="det0"/>
          <p:cNvSpPr/>
          <p:nvPr/>
        </p:nvSpPr>
        <p:spPr>
          <a:xfrm>
            <a:off x="457200" y="1234440"/>
            <a:ext cx="4023360" cy="731520"/>
          </a:xfrm>
          <a:prstGeom prst="roundRect">
            <a:avLst>
              <a:gd name="adj" fmla="val 10000"/>
            </a:avLst>
          </a:prstGeom>
          <a:solidFill>
            <a:srgbClr val="F4F1FA"/>
          </a:solidFill>
          <a:ln w="12700">
            <a:solidFill>
              <a:srgbClr val="F4F1FA"/>
            </a:solidFill>
            <a:prstDash val="solid"/>
          </a:ln>
        </p:spPr>
      </p:sp>
      <p:sp>
        <p:nvSpPr>
          <p:cNvPr id="7" name="Text 5"/>
          <p:cNvSpPr txBox="1"/>
          <p:nvPr/>
        </p:nvSpPr>
        <p:spPr>
          <a:xfrm>
            <a:off x="640080" y="1325880"/>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Overview</a:t>
            </a:r>
            <a:endParaRPr lang="en-US" sz="1300" dirty="0"/>
          </a:p>
        </p:txBody>
      </p:sp>
      <p:sp>
        <p:nvSpPr>
          <p:cNvPr id="8" name="Text 6"/>
          <p:cNvSpPr txBox="1"/>
          <p:nvPr/>
        </p:nvSpPr>
        <p:spPr>
          <a:xfrm>
            <a:off x="1920240" y="1325880"/>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Two-paragraph description: location, building type, highlights</a:t>
            </a:r>
            <a:endParaRPr lang="en-US" sz="1150" dirty="0"/>
          </a:p>
        </p:txBody>
      </p:sp>
      <p:sp>
        <p:nvSpPr>
          <p:cNvPr id="9" name="det1"/>
          <p:cNvSpPr/>
          <p:nvPr/>
        </p:nvSpPr>
        <p:spPr>
          <a:xfrm>
            <a:off x="4663440" y="1234440"/>
            <a:ext cx="4023360" cy="731520"/>
          </a:xfrm>
          <a:prstGeom prst="roundRect">
            <a:avLst>
              <a:gd name="adj" fmla="val 10000"/>
            </a:avLst>
          </a:prstGeom>
          <a:solidFill>
            <a:srgbClr val="F4F1FA"/>
          </a:solidFill>
          <a:ln w="12700">
            <a:solidFill>
              <a:srgbClr val="F4F1FA"/>
            </a:solidFill>
            <a:prstDash val="solid"/>
          </a:ln>
        </p:spPr>
      </p:sp>
      <p:sp>
        <p:nvSpPr>
          <p:cNvPr id="10" name="Text 8"/>
          <p:cNvSpPr txBox="1"/>
          <p:nvPr/>
        </p:nvSpPr>
        <p:spPr>
          <a:xfrm>
            <a:off x="4846320" y="1325880"/>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Key facts</a:t>
            </a:r>
            <a:endParaRPr lang="en-US" sz="1300" dirty="0"/>
          </a:p>
        </p:txBody>
      </p:sp>
      <p:sp>
        <p:nvSpPr>
          <p:cNvPr id="11" name="Text 9"/>
          <p:cNvSpPr txBox="1"/>
          <p:nvPr/>
        </p:nvSpPr>
        <p:spPr>
          <a:xfrm>
            <a:off x="6126480" y="1325880"/>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Type, location, plot size, floors, units, status, completion date</a:t>
            </a:r>
            <a:endParaRPr lang="en-US" sz="1150" dirty="0"/>
          </a:p>
        </p:txBody>
      </p:sp>
      <p:sp>
        <p:nvSpPr>
          <p:cNvPr id="12" name="det2"/>
          <p:cNvSpPr/>
          <p:nvPr/>
        </p:nvSpPr>
        <p:spPr>
          <a:xfrm>
            <a:off x="457200" y="2075688"/>
            <a:ext cx="4023360" cy="731520"/>
          </a:xfrm>
          <a:prstGeom prst="roundRect">
            <a:avLst>
              <a:gd name="adj" fmla="val 10000"/>
            </a:avLst>
          </a:prstGeom>
          <a:solidFill>
            <a:srgbClr val="F4F1FA"/>
          </a:solidFill>
          <a:ln w="12700">
            <a:solidFill>
              <a:srgbClr val="F4F1FA"/>
            </a:solidFill>
            <a:prstDash val="solid"/>
          </a:ln>
        </p:spPr>
      </p:sp>
      <p:sp>
        <p:nvSpPr>
          <p:cNvPr id="13" name="Text 11"/>
          <p:cNvSpPr txBox="1"/>
          <p:nvPr/>
        </p:nvSpPr>
        <p:spPr>
          <a:xfrm>
            <a:off x="640080" y="2167128"/>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Gallery</a:t>
            </a:r>
            <a:endParaRPr lang="en-US" sz="1300" dirty="0"/>
          </a:p>
        </p:txBody>
      </p:sp>
      <p:sp>
        <p:nvSpPr>
          <p:cNvPr id="14" name="Text 12"/>
          <p:cNvSpPr txBox="1"/>
          <p:nvPr/>
        </p:nvSpPr>
        <p:spPr>
          <a:xfrm>
            <a:off x="1920240" y="2167128"/>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6–10 photos: exterior, interiors, construction stages</a:t>
            </a:r>
            <a:endParaRPr lang="en-US" sz="1150" dirty="0"/>
          </a:p>
        </p:txBody>
      </p:sp>
      <p:sp>
        <p:nvSpPr>
          <p:cNvPr id="15" name="det3"/>
          <p:cNvSpPr/>
          <p:nvPr/>
        </p:nvSpPr>
        <p:spPr>
          <a:xfrm>
            <a:off x="4663440" y="2075688"/>
            <a:ext cx="4023360" cy="731520"/>
          </a:xfrm>
          <a:prstGeom prst="roundRect">
            <a:avLst>
              <a:gd name="adj" fmla="val 10000"/>
            </a:avLst>
          </a:prstGeom>
          <a:solidFill>
            <a:srgbClr val="F4F1FA"/>
          </a:solidFill>
          <a:ln w="12700">
            <a:solidFill>
              <a:srgbClr val="F4F1FA"/>
            </a:solidFill>
            <a:prstDash val="solid"/>
          </a:ln>
        </p:spPr>
      </p:sp>
      <p:sp>
        <p:nvSpPr>
          <p:cNvPr id="16" name="Text 14"/>
          <p:cNvSpPr txBox="1"/>
          <p:nvPr/>
        </p:nvSpPr>
        <p:spPr>
          <a:xfrm>
            <a:off x="4846320" y="2167128"/>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Specifications</a:t>
            </a:r>
            <a:endParaRPr lang="en-US" sz="1300" dirty="0"/>
          </a:p>
        </p:txBody>
      </p:sp>
      <p:sp>
        <p:nvSpPr>
          <p:cNvPr id="17" name="Text 15"/>
          <p:cNvSpPr txBox="1"/>
          <p:nvPr/>
        </p:nvSpPr>
        <p:spPr>
          <a:xfrm>
            <a:off x="6126480" y="2167128"/>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Structure, flooring, doors, windows, electrical, plumbing</a:t>
            </a:r>
            <a:endParaRPr lang="en-US" sz="1150" dirty="0"/>
          </a:p>
        </p:txBody>
      </p:sp>
      <p:sp>
        <p:nvSpPr>
          <p:cNvPr id="18" name="det4"/>
          <p:cNvSpPr/>
          <p:nvPr/>
        </p:nvSpPr>
        <p:spPr>
          <a:xfrm>
            <a:off x="457200" y="2916936"/>
            <a:ext cx="4023360" cy="731520"/>
          </a:xfrm>
          <a:prstGeom prst="roundRect">
            <a:avLst>
              <a:gd name="adj" fmla="val 10000"/>
            </a:avLst>
          </a:prstGeom>
          <a:solidFill>
            <a:srgbClr val="F4F1FA"/>
          </a:solidFill>
          <a:ln w="12700">
            <a:solidFill>
              <a:srgbClr val="F4F1FA"/>
            </a:solidFill>
            <a:prstDash val="solid"/>
          </a:ln>
        </p:spPr>
      </p:sp>
      <p:sp>
        <p:nvSpPr>
          <p:cNvPr id="19" name="Text 17"/>
          <p:cNvSpPr txBox="1"/>
          <p:nvPr/>
        </p:nvSpPr>
        <p:spPr>
          <a:xfrm>
            <a:off x="640080" y="3008376"/>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Amenities</a:t>
            </a:r>
            <a:endParaRPr lang="en-US" sz="1300" dirty="0"/>
          </a:p>
        </p:txBody>
      </p:sp>
      <p:sp>
        <p:nvSpPr>
          <p:cNvPr id="20" name="Text 18"/>
          <p:cNvSpPr txBox="1"/>
          <p:nvPr/>
        </p:nvSpPr>
        <p:spPr>
          <a:xfrm>
            <a:off x="1920240" y="3008376"/>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Parking, lift, power backup, water, security</a:t>
            </a:r>
            <a:endParaRPr lang="en-US" sz="1150" dirty="0"/>
          </a:p>
        </p:txBody>
      </p:sp>
      <p:sp>
        <p:nvSpPr>
          <p:cNvPr id="21" name="det5"/>
          <p:cNvSpPr/>
          <p:nvPr/>
        </p:nvSpPr>
        <p:spPr>
          <a:xfrm>
            <a:off x="4663440" y="2916936"/>
            <a:ext cx="4023360" cy="731520"/>
          </a:xfrm>
          <a:prstGeom prst="roundRect">
            <a:avLst>
              <a:gd name="adj" fmla="val 10000"/>
            </a:avLst>
          </a:prstGeom>
          <a:solidFill>
            <a:srgbClr val="F4F1FA"/>
          </a:solidFill>
          <a:ln w="12700">
            <a:solidFill>
              <a:srgbClr val="F4F1FA"/>
            </a:solidFill>
            <a:prstDash val="solid"/>
          </a:ln>
        </p:spPr>
      </p:sp>
      <p:sp>
        <p:nvSpPr>
          <p:cNvPr id="22" name="Text 20"/>
          <p:cNvSpPr txBox="1"/>
          <p:nvPr/>
        </p:nvSpPr>
        <p:spPr>
          <a:xfrm>
            <a:off x="4846320" y="3008376"/>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Location</a:t>
            </a:r>
            <a:endParaRPr lang="en-US" sz="1300" dirty="0"/>
          </a:p>
        </p:txBody>
      </p:sp>
      <p:sp>
        <p:nvSpPr>
          <p:cNvPr id="23" name="Text 21"/>
          <p:cNvSpPr txBox="1"/>
          <p:nvPr/>
        </p:nvSpPr>
        <p:spPr>
          <a:xfrm>
            <a:off x="6126480" y="3008376"/>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Google Map and nearby schools, hospitals, transport</a:t>
            </a:r>
            <a:endParaRPr lang="en-US" sz="1150" dirty="0"/>
          </a:p>
        </p:txBody>
      </p:sp>
      <p:sp>
        <p:nvSpPr>
          <p:cNvPr id="24" name="det6"/>
          <p:cNvSpPr/>
          <p:nvPr/>
        </p:nvSpPr>
        <p:spPr>
          <a:xfrm>
            <a:off x="457200" y="3758184"/>
            <a:ext cx="4023360" cy="731520"/>
          </a:xfrm>
          <a:prstGeom prst="roundRect">
            <a:avLst>
              <a:gd name="adj" fmla="val 10000"/>
            </a:avLst>
          </a:prstGeom>
          <a:solidFill>
            <a:srgbClr val="F4F1FA"/>
          </a:solidFill>
          <a:ln w="12700">
            <a:solidFill>
              <a:srgbClr val="F4F1FA"/>
            </a:solidFill>
            <a:prstDash val="solid"/>
          </a:ln>
        </p:spPr>
      </p:sp>
      <p:sp>
        <p:nvSpPr>
          <p:cNvPr id="25" name="Text 23"/>
          <p:cNvSpPr txBox="1"/>
          <p:nvPr/>
        </p:nvSpPr>
        <p:spPr>
          <a:xfrm>
            <a:off x="640080" y="3849624"/>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Approvals</a:t>
            </a:r>
            <a:endParaRPr lang="en-US" sz="1300" dirty="0"/>
          </a:p>
        </p:txBody>
      </p:sp>
      <p:sp>
        <p:nvSpPr>
          <p:cNvPr id="26" name="Text 24"/>
          <p:cNvSpPr txBox="1"/>
          <p:nvPr/>
        </p:nvSpPr>
        <p:spPr>
          <a:xfrm>
            <a:off x="1920240" y="3849624"/>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BBMP / BDA plan approval and RERA number, where applicable</a:t>
            </a:r>
            <a:endParaRPr lang="en-US" sz="1150" dirty="0"/>
          </a:p>
        </p:txBody>
      </p:sp>
      <p:sp>
        <p:nvSpPr>
          <p:cNvPr id="27" name="det7"/>
          <p:cNvSpPr/>
          <p:nvPr/>
        </p:nvSpPr>
        <p:spPr>
          <a:xfrm>
            <a:off x="4663440" y="3758184"/>
            <a:ext cx="4023360" cy="731520"/>
          </a:xfrm>
          <a:prstGeom prst="roundRect">
            <a:avLst>
              <a:gd name="adj" fmla="val 10000"/>
            </a:avLst>
          </a:prstGeom>
          <a:solidFill>
            <a:srgbClr val="F4F1FA"/>
          </a:solidFill>
          <a:ln w="12700">
            <a:solidFill>
              <a:srgbClr val="F4F1FA"/>
            </a:solidFill>
            <a:prstDash val="solid"/>
          </a:ln>
        </p:spPr>
      </p:sp>
      <p:sp>
        <p:nvSpPr>
          <p:cNvPr id="28" name="Text 26"/>
          <p:cNvSpPr txBox="1"/>
          <p:nvPr/>
        </p:nvSpPr>
        <p:spPr>
          <a:xfrm>
            <a:off x="4846320" y="3849624"/>
            <a:ext cx="1280160" cy="548640"/>
          </a:xfrm>
          <a:prstGeom prst="rect">
            <a:avLst/>
          </a:prstGeom>
          <a:noFill/>
          <a:ln/>
        </p:spPr>
        <p:txBody>
          <a:bodyPr wrap="square" lIns="0" tIns="0" rIns="0" bIns="0" rtlCol="0" anchor="ctr"/>
          <a:lstStyle/>
          <a:p>
            <a:pPr indent="0" marL="0">
              <a:buNone/>
            </a:pPr>
            <a:r>
              <a:rPr lang="en-US" sz="1300" b="1" dirty="0">
                <a:solidFill>
                  <a:srgbClr val="6A45A6"/>
                </a:solidFill>
                <a:latin typeface="Calibri" pitchFamily="34" charset="0"/>
                <a:ea typeface="Calibri" pitchFamily="34" charset="-122"/>
                <a:cs typeface="Calibri" pitchFamily="34" charset="-120"/>
              </a:rPr>
              <a:t>Enquire</a:t>
            </a:r>
            <a:endParaRPr lang="en-US" sz="1300" dirty="0"/>
          </a:p>
        </p:txBody>
      </p:sp>
      <p:sp>
        <p:nvSpPr>
          <p:cNvPr id="29" name="Text 27"/>
          <p:cNvSpPr txBox="1"/>
          <p:nvPr/>
        </p:nvSpPr>
        <p:spPr>
          <a:xfrm>
            <a:off x="6126480" y="3849624"/>
            <a:ext cx="2423160" cy="54864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Short form: name, phone, interest, plus WhatsApp button</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SERVICES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Services grid</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Complete Construction &amp; Engineering Services</a:t>
            </a:r>
            <a:endParaRPr lang="en-US" sz="2400" dirty="0"/>
          </a:p>
        </p:txBody>
      </p:sp>
      <p:sp>
        <p:nvSpPr>
          <p:cNvPr id="6" name="sv0"/>
          <p:cNvSpPr/>
          <p:nvPr/>
        </p:nvSpPr>
        <p:spPr>
          <a:xfrm>
            <a:off x="457200" y="1234440"/>
            <a:ext cx="1947672" cy="1554480"/>
          </a:xfrm>
          <a:prstGeom prst="roundRect">
            <a:avLst>
              <a:gd name="adj" fmla="val 4706"/>
            </a:avLst>
          </a:prstGeom>
          <a:solidFill>
            <a:srgbClr val="F4F1FA"/>
          </a:solidFill>
          <a:ln w="12700">
            <a:solidFill>
              <a:srgbClr val="F4F1FA"/>
            </a:solidFill>
            <a:prstDash val="solid"/>
          </a:ln>
        </p:spPr>
      </p:sp>
      <p:sp>
        <p:nvSpPr>
          <p:cNvPr id="7" name="svi0"/>
          <p:cNvSpPr/>
          <p:nvPr/>
        </p:nvSpPr>
        <p:spPr>
          <a:xfrm>
            <a:off x="621792" y="1399032"/>
            <a:ext cx="457200" cy="457200"/>
          </a:xfrm>
          <a:prstGeom prst="ellipse">
            <a:avLst/>
          </a:prstGeom>
          <a:solidFill>
            <a:srgbClr val="6A45A6"/>
          </a:solidFill>
          <a:ln w="12700">
            <a:solidFill>
              <a:srgbClr val="6A45A6"/>
            </a:solidFill>
            <a:prstDash val="solid"/>
          </a:ln>
        </p:spPr>
      </p:sp>
      <p:pic>
        <p:nvPicPr>
          <p:cNvPr id="8" name="Image 0" descr="preencoded.png">    </p:cNvPr>
          <p:cNvPicPr>
            <a:picLocks noChangeAspect="1"/>
          </p:cNvPicPr>
          <p:nvPr/>
        </p:nvPicPr>
        <p:blipFill>
          <a:blip r:embed="rId1"/>
          <a:stretch>
            <a:fillRect/>
          </a:stretch>
        </p:blipFill>
        <p:spPr>
          <a:xfrm>
            <a:off x="736092" y="1513332"/>
            <a:ext cx="228600" cy="228600"/>
          </a:xfrm>
          <a:prstGeom prst="rect">
            <a:avLst/>
          </a:prstGeom>
        </p:spPr>
      </p:pic>
      <p:sp>
        <p:nvSpPr>
          <p:cNvPr id="9" name="Text 6"/>
          <p:cNvSpPr txBox="1"/>
          <p:nvPr/>
        </p:nvSpPr>
        <p:spPr>
          <a:xfrm>
            <a:off x="621792" y="192024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Residential Construction</a:t>
            </a:r>
            <a:endParaRPr lang="en-US" sz="1250" dirty="0"/>
          </a:p>
        </p:txBody>
      </p:sp>
      <p:sp>
        <p:nvSpPr>
          <p:cNvPr id="10" name="Text 7"/>
          <p:cNvSpPr txBox="1"/>
          <p:nvPr/>
        </p:nvSpPr>
        <p:spPr>
          <a:xfrm>
            <a:off x="621792" y="226771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Independent houses, villas and apartments built to your plan</a:t>
            </a:r>
            <a:endParaRPr lang="en-US" sz="1050" dirty="0"/>
          </a:p>
        </p:txBody>
      </p:sp>
      <p:sp>
        <p:nvSpPr>
          <p:cNvPr id="11" name="sv1"/>
          <p:cNvSpPr/>
          <p:nvPr/>
        </p:nvSpPr>
        <p:spPr>
          <a:xfrm>
            <a:off x="2542032" y="1234440"/>
            <a:ext cx="1947672" cy="1554480"/>
          </a:xfrm>
          <a:prstGeom prst="roundRect">
            <a:avLst>
              <a:gd name="adj" fmla="val 4706"/>
            </a:avLst>
          </a:prstGeom>
          <a:solidFill>
            <a:srgbClr val="F4F1FA"/>
          </a:solidFill>
          <a:ln w="12700">
            <a:solidFill>
              <a:srgbClr val="F4F1FA"/>
            </a:solidFill>
            <a:prstDash val="solid"/>
          </a:ln>
        </p:spPr>
      </p:sp>
      <p:sp>
        <p:nvSpPr>
          <p:cNvPr id="12" name="svi1"/>
          <p:cNvSpPr/>
          <p:nvPr/>
        </p:nvSpPr>
        <p:spPr>
          <a:xfrm>
            <a:off x="2706624" y="1399032"/>
            <a:ext cx="457200" cy="457200"/>
          </a:xfrm>
          <a:prstGeom prst="ellipse">
            <a:avLst/>
          </a:prstGeom>
          <a:solidFill>
            <a:srgbClr val="2D52A9"/>
          </a:solidFill>
          <a:ln w="12700">
            <a:solidFill>
              <a:srgbClr val="2D52A9"/>
            </a:solidFill>
            <a:prstDash val="solid"/>
          </a:ln>
        </p:spPr>
      </p:sp>
      <p:pic>
        <p:nvPicPr>
          <p:cNvPr id="13" name="Image 1" descr="preencoded.png">    </p:cNvPr>
          <p:cNvPicPr>
            <a:picLocks noChangeAspect="1"/>
          </p:cNvPicPr>
          <p:nvPr/>
        </p:nvPicPr>
        <p:blipFill>
          <a:blip r:embed="rId2"/>
          <a:stretch>
            <a:fillRect/>
          </a:stretch>
        </p:blipFill>
        <p:spPr>
          <a:xfrm>
            <a:off x="2820924" y="1513332"/>
            <a:ext cx="228600" cy="228600"/>
          </a:xfrm>
          <a:prstGeom prst="rect">
            <a:avLst/>
          </a:prstGeom>
        </p:spPr>
      </p:pic>
      <p:sp>
        <p:nvSpPr>
          <p:cNvPr id="14" name="Text 10"/>
          <p:cNvSpPr txBox="1"/>
          <p:nvPr/>
        </p:nvSpPr>
        <p:spPr>
          <a:xfrm>
            <a:off x="2706624" y="192024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Commercial Construction</a:t>
            </a:r>
            <a:endParaRPr lang="en-US" sz="1250" dirty="0"/>
          </a:p>
        </p:txBody>
      </p:sp>
      <p:sp>
        <p:nvSpPr>
          <p:cNvPr id="15" name="Text 11"/>
          <p:cNvSpPr txBox="1"/>
          <p:nvPr/>
        </p:nvSpPr>
        <p:spPr>
          <a:xfrm>
            <a:off x="2706624" y="226771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Offices, shops and mixed-use buildings built for business</a:t>
            </a:r>
            <a:endParaRPr lang="en-US" sz="1050" dirty="0"/>
          </a:p>
        </p:txBody>
      </p:sp>
      <p:sp>
        <p:nvSpPr>
          <p:cNvPr id="16" name="sv2"/>
          <p:cNvSpPr/>
          <p:nvPr/>
        </p:nvSpPr>
        <p:spPr>
          <a:xfrm>
            <a:off x="4626864" y="1234440"/>
            <a:ext cx="1947672" cy="1554480"/>
          </a:xfrm>
          <a:prstGeom prst="roundRect">
            <a:avLst>
              <a:gd name="adj" fmla="val 4706"/>
            </a:avLst>
          </a:prstGeom>
          <a:solidFill>
            <a:srgbClr val="F4F1FA"/>
          </a:solidFill>
          <a:ln w="12700">
            <a:solidFill>
              <a:srgbClr val="F4F1FA"/>
            </a:solidFill>
            <a:prstDash val="solid"/>
          </a:ln>
        </p:spPr>
      </p:sp>
      <p:sp>
        <p:nvSpPr>
          <p:cNvPr id="17" name="svi2"/>
          <p:cNvSpPr/>
          <p:nvPr/>
        </p:nvSpPr>
        <p:spPr>
          <a:xfrm>
            <a:off x="4791456" y="1399032"/>
            <a:ext cx="457200" cy="457200"/>
          </a:xfrm>
          <a:prstGeom prst="ellipse">
            <a:avLst/>
          </a:prstGeom>
          <a:solidFill>
            <a:srgbClr val="6A45A6"/>
          </a:solidFill>
          <a:ln w="12700">
            <a:solidFill>
              <a:srgbClr val="6A45A6"/>
            </a:solidFill>
            <a:prstDash val="solid"/>
          </a:ln>
        </p:spPr>
      </p:sp>
      <p:pic>
        <p:nvPicPr>
          <p:cNvPr id="18" name="Image 2" descr="preencoded.png">    </p:cNvPr>
          <p:cNvPicPr>
            <a:picLocks noChangeAspect="1"/>
          </p:cNvPicPr>
          <p:nvPr/>
        </p:nvPicPr>
        <p:blipFill>
          <a:blip r:embed="rId3"/>
          <a:stretch>
            <a:fillRect/>
          </a:stretch>
        </p:blipFill>
        <p:spPr>
          <a:xfrm>
            <a:off x="4905756" y="1513332"/>
            <a:ext cx="228600" cy="228600"/>
          </a:xfrm>
          <a:prstGeom prst="rect">
            <a:avLst/>
          </a:prstGeom>
        </p:spPr>
      </p:pic>
      <p:sp>
        <p:nvSpPr>
          <p:cNvPr id="19" name="Text 14"/>
          <p:cNvSpPr txBox="1"/>
          <p:nvPr/>
        </p:nvSpPr>
        <p:spPr>
          <a:xfrm>
            <a:off x="4791456" y="192024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Turnkey Projects</a:t>
            </a:r>
            <a:endParaRPr lang="en-US" sz="1250" dirty="0"/>
          </a:p>
        </p:txBody>
      </p:sp>
      <p:sp>
        <p:nvSpPr>
          <p:cNvPr id="20" name="Text 15"/>
          <p:cNvSpPr txBox="1"/>
          <p:nvPr/>
        </p:nvSpPr>
        <p:spPr>
          <a:xfrm>
            <a:off x="4791456" y="226771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Design to handover, one team, one point of contact</a:t>
            </a:r>
            <a:endParaRPr lang="en-US" sz="1050" dirty="0"/>
          </a:p>
        </p:txBody>
      </p:sp>
      <p:sp>
        <p:nvSpPr>
          <p:cNvPr id="21" name="sv3"/>
          <p:cNvSpPr/>
          <p:nvPr/>
        </p:nvSpPr>
        <p:spPr>
          <a:xfrm>
            <a:off x="6711696" y="1234440"/>
            <a:ext cx="1947672" cy="1554480"/>
          </a:xfrm>
          <a:prstGeom prst="roundRect">
            <a:avLst>
              <a:gd name="adj" fmla="val 4706"/>
            </a:avLst>
          </a:prstGeom>
          <a:solidFill>
            <a:srgbClr val="F4F1FA"/>
          </a:solidFill>
          <a:ln w="12700">
            <a:solidFill>
              <a:srgbClr val="F4F1FA"/>
            </a:solidFill>
            <a:prstDash val="solid"/>
          </a:ln>
        </p:spPr>
      </p:sp>
      <p:sp>
        <p:nvSpPr>
          <p:cNvPr id="22" name="svi3"/>
          <p:cNvSpPr/>
          <p:nvPr/>
        </p:nvSpPr>
        <p:spPr>
          <a:xfrm>
            <a:off x="6876288" y="1399032"/>
            <a:ext cx="457200" cy="457200"/>
          </a:xfrm>
          <a:prstGeom prst="ellipse">
            <a:avLst/>
          </a:prstGeom>
          <a:solidFill>
            <a:srgbClr val="2D52A9"/>
          </a:solidFill>
          <a:ln w="12700">
            <a:solidFill>
              <a:srgbClr val="2D52A9"/>
            </a:solidFill>
            <a:prstDash val="solid"/>
          </a:ln>
        </p:spPr>
      </p:sp>
      <p:pic>
        <p:nvPicPr>
          <p:cNvPr id="23" name="Image 3" descr="preencoded.png">    </p:cNvPr>
          <p:cNvPicPr>
            <a:picLocks noChangeAspect="1"/>
          </p:cNvPicPr>
          <p:nvPr/>
        </p:nvPicPr>
        <p:blipFill>
          <a:blip r:embed="rId4"/>
          <a:stretch>
            <a:fillRect/>
          </a:stretch>
        </p:blipFill>
        <p:spPr>
          <a:xfrm>
            <a:off x="6990588" y="1513332"/>
            <a:ext cx="228600" cy="228600"/>
          </a:xfrm>
          <a:prstGeom prst="rect">
            <a:avLst/>
          </a:prstGeom>
        </p:spPr>
      </p:pic>
      <p:sp>
        <p:nvSpPr>
          <p:cNvPr id="24" name="Text 18"/>
          <p:cNvSpPr txBox="1"/>
          <p:nvPr/>
        </p:nvSpPr>
        <p:spPr>
          <a:xfrm>
            <a:off x="6876288" y="192024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Architectural Design</a:t>
            </a:r>
            <a:endParaRPr lang="en-US" sz="1250" dirty="0"/>
          </a:p>
        </p:txBody>
      </p:sp>
      <p:sp>
        <p:nvSpPr>
          <p:cNvPr id="25" name="Text 19"/>
          <p:cNvSpPr txBox="1"/>
          <p:nvPr/>
        </p:nvSpPr>
        <p:spPr>
          <a:xfrm>
            <a:off x="6876288" y="226771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Practical, Vastu-friendly layouts and 3D elevations</a:t>
            </a:r>
            <a:endParaRPr lang="en-US" sz="1050" dirty="0"/>
          </a:p>
        </p:txBody>
      </p:sp>
      <p:sp>
        <p:nvSpPr>
          <p:cNvPr id="26" name="sv4"/>
          <p:cNvSpPr/>
          <p:nvPr/>
        </p:nvSpPr>
        <p:spPr>
          <a:xfrm>
            <a:off x="457200" y="2926080"/>
            <a:ext cx="1947672" cy="1554480"/>
          </a:xfrm>
          <a:prstGeom prst="roundRect">
            <a:avLst>
              <a:gd name="adj" fmla="val 4706"/>
            </a:avLst>
          </a:prstGeom>
          <a:solidFill>
            <a:srgbClr val="F4F1FA"/>
          </a:solidFill>
          <a:ln w="12700">
            <a:solidFill>
              <a:srgbClr val="F4F1FA"/>
            </a:solidFill>
            <a:prstDash val="solid"/>
          </a:ln>
        </p:spPr>
      </p:sp>
      <p:sp>
        <p:nvSpPr>
          <p:cNvPr id="27" name="svi4"/>
          <p:cNvSpPr/>
          <p:nvPr/>
        </p:nvSpPr>
        <p:spPr>
          <a:xfrm>
            <a:off x="621792" y="3090672"/>
            <a:ext cx="457200" cy="457200"/>
          </a:xfrm>
          <a:prstGeom prst="ellipse">
            <a:avLst/>
          </a:prstGeom>
          <a:solidFill>
            <a:srgbClr val="6A45A6"/>
          </a:solidFill>
          <a:ln w="12700">
            <a:solidFill>
              <a:srgbClr val="6A45A6"/>
            </a:solidFill>
            <a:prstDash val="solid"/>
          </a:ln>
        </p:spPr>
      </p:sp>
      <p:pic>
        <p:nvPicPr>
          <p:cNvPr id="28" name="Image 4" descr="preencoded.png">    </p:cNvPr>
          <p:cNvPicPr>
            <a:picLocks noChangeAspect="1"/>
          </p:cNvPicPr>
          <p:nvPr/>
        </p:nvPicPr>
        <p:blipFill>
          <a:blip r:embed="rId5"/>
          <a:stretch>
            <a:fillRect/>
          </a:stretch>
        </p:blipFill>
        <p:spPr>
          <a:xfrm>
            <a:off x="736092" y="3204972"/>
            <a:ext cx="228600" cy="228600"/>
          </a:xfrm>
          <a:prstGeom prst="rect">
            <a:avLst/>
          </a:prstGeom>
        </p:spPr>
      </p:pic>
      <p:sp>
        <p:nvSpPr>
          <p:cNvPr id="29" name="Text 22"/>
          <p:cNvSpPr txBox="1"/>
          <p:nvPr/>
        </p:nvSpPr>
        <p:spPr>
          <a:xfrm>
            <a:off x="621792" y="361188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Structural Engineering</a:t>
            </a:r>
            <a:endParaRPr lang="en-US" sz="1250" dirty="0"/>
          </a:p>
        </p:txBody>
      </p:sp>
      <p:sp>
        <p:nvSpPr>
          <p:cNvPr id="30" name="Text 23"/>
          <p:cNvSpPr txBox="1"/>
          <p:nvPr/>
        </p:nvSpPr>
        <p:spPr>
          <a:xfrm>
            <a:off x="621792" y="395935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Safe, efficient structural design and site supervision</a:t>
            </a:r>
            <a:endParaRPr lang="en-US" sz="1050" dirty="0"/>
          </a:p>
        </p:txBody>
      </p:sp>
      <p:sp>
        <p:nvSpPr>
          <p:cNvPr id="31" name="sv5"/>
          <p:cNvSpPr/>
          <p:nvPr/>
        </p:nvSpPr>
        <p:spPr>
          <a:xfrm>
            <a:off x="2542032" y="2926080"/>
            <a:ext cx="1947672" cy="1554480"/>
          </a:xfrm>
          <a:prstGeom prst="roundRect">
            <a:avLst>
              <a:gd name="adj" fmla="val 4706"/>
            </a:avLst>
          </a:prstGeom>
          <a:solidFill>
            <a:srgbClr val="F4F1FA"/>
          </a:solidFill>
          <a:ln w="12700">
            <a:solidFill>
              <a:srgbClr val="F4F1FA"/>
            </a:solidFill>
            <a:prstDash val="solid"/>
          </a:ln>
        </p:spPr>
      </p:sp>
      <p:sp>
        <p:nvSpPr>
          <p:cNvPr id="32" name="svi5"/>
          <p:cNvSpPr/>
          <p:nvPr/>
        </p:nvSpPr>
        <p:spPr>
          <a:xfrm>
            <a:off x="2706624" y="3090672"/>
            <a:ext cx="457200" cy="457200"/>
          </a:xfrm>
          <a:prstGeom prst="ellipse">
            <a:avLst/>
          </a:prstGeom>
          <a:solidFill>
            <a:srgbClr val="2D52A9"/>
          </a:solidFill>
          <a:ln w="12700">
            <a:solidFill>
              <a:srgbClr val="2D52A9"/>
            </a:solidFill>
            <a:prstDash val="solid"/>
          </a:ln>
        </p:spPr>
      </p:sp>
      <p:pic>
        <p:nvPicPr>
          <p:cNvPr id="33" name="Image 5" descr="preencoded.png">    </p:cNvPr>
          <p:cNvPicPr>
            <a:picLocks noChangeAspect="1"/>
          </p:cNvPicPr>
          <p:nvPr/>
        </p:nvPicPr>
        <p:blipFill>
          <a:blip r:embed="rId6"/>
          <a:stretch>
            <a:fillRect/>
          </a:stretch>
        </p:blipFill>
        <p:spPr>
          <a:xfrm>
            <a:off x="2820924" y="3204972"/>
            <a:ext cx="228600" cy="228600"/>
          </a:xfrm>
          <a:prstGeom prst="rect">
            <a:avLst/>
          </a:prstGeom>
        </p:spPr>
      </p:pic>
      <p:sp>
        <p:nvSpPr>
          <p:cNvPr id="34" name="Text 26"/>
          <p:cNvSpPr txBox="1"/>
          <p:nvPr/>
        </p:nvSpPr>
        <p:spPr>
          <a:xfrm>
            <a:off x="2706624" y="361188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Renovation</a:t>
            </a:r>
            <a:endParaRPr lang="en-US" sz="1250" dirty="0"/>
          </a:p>
        </p:txBody>
      </p:sp>
      <p:sp>
        <p:nvSpPr>
          <p:cNvPr id="35" name="Text 27"/>
          <p:cNvSpPr txBox="1"/>
          <p:nvPr/>
        </p:nvSpPr>
        <p:spPr>
          <a:xfrm>
            <a:off x="2706624" y="395935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Extensions, additional floors and full makeovers</a:t>
            </a:r>
            <a:endParaRPr lang="en-US" sz="1050" dirty="0"/>
          </a:p>
        </p:txBody>
      </p:sp>
      <p:sp>
        <p:nvSpPr>
          <p:cNvPr id="36" name="sv6"/>
          <p:cNvSpPr/>
          <p:nvPr/>
        </p:nvSpPr>
        <p:spPr>
          <a:xfrm>
            <a:off x="4626864" y="2926080"/>
            <a:ext cx="1947672" cy="1554480"/>
          </a:xfrm>
          <a:prstGeom prst="roundRect">
            <a:avLst>
              <a:gd name="adj" fmla="val 4706"/>
            </a:avLst>
          </a:prstGeom>
          <a:solidFill>
            <a:srgbClr val="F4F1FA"/>
          </a:solidFill>
          <a:ln w="12700">
            <a:solidFill>
              <a:srgbClr val="F4F1FA"/>
            </a:solidFill>
            <a:prstDash val="solid"/>
          </a:ln>
        </p:spPr>
      </p:sp>
      <p:sp>
        <p:nvSpPr>
          <p:cNvPr id="37" name="svi6"/>
          <p:cNvSpPr/>
          <p:nvPr/>
        </p:nvSpPr>
        <p:spPr>
          <a:xfrm>
            <a:off x="4791456" y="3090672"/>
            <a:ext cx="457200" cy="457200"/>
          </a:xfrm>
          <a:prstGeom prst="ellipse">
            <a:avLst/>
          </a:prstGeom>
          <a:solidFill>
            <a:srgbClr val="6A45A6"/>
          </a:solidFill>
          <a:ln w="12700">
            <a:solidFill>
              <a:srgbClr val="6A45A6"/>
            </a:solidFill>
            <a:prstDash val="solid"/>
          </a:ln>
        </p:spPr>
      </p:sp>
      <p:pic>
        <p:nvPicPr>
          <p:cNvPr id="38" name="Image 6" descr="preencoded.png">    </p:cNvPr>
          <p:cNvPicPr>
            <a:picLocks noChangeAspect="1"/>
          </p:cNvPicPr>
          <p:nvPr/>
        </p:nvPicPr>
        <p:blipFill>
          <a:blip r:embed="rId7"/>
          <a:stretch>
            <a:fillRect/>
          </a:stretch>
        </p:blipFill>
        <p:spPr>
          <a:xfrm>
            <a:off x="4905756" y="3204972"/>
            <a:ext cx="228600" cy="228600"/>
          </a:xfrm>
          <a:prstGeom prst="rect">
            <a:avLst/>
          </a:prstGeom>
        </p:spPr>
      </p:pic>
      <p:sp>
        <p:nvSpPr>
          <p:cNvPr id="39" name="Text 30"/>
          <p:cNvSpPr txBox="1"/>
          <p:nvPr/>
        </p:nvSpPr>
        <p:spPr>
          <a:xfrm>
            <a:off x="4791456" y="361188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Interior Solutions</a:t>
            </a:r>
            <a:endParaRPr lang="en-US" sz="1250" dirty="0"/>
          </a:p>
        </p:txBody>
      </p:sp>
      <p:sp>
        <p:nvSpPr>
          <p:cNvPr id="40" name="Text 31"/>
          <p:cNvSpPr txBox="1"/>
          <p:nvPr/>
        </p:nvSpPr>
        <p:spPr>
          <a:xfrm>
            <a:off x="4791456" y="395935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Modular kitchens, wardrobes and complete interiors</a:t>
            </a:r>
            <a:endParaRPr lang="en-US" sz="1050" dirty="0"/>
          </a:p>
        </p:txBody>
      </p:sp>
      <p:sp>
        <p:nvSpPr>
          <p:cNvPr id="41" name="sv7"/>
          <p:cNvSpPr/>
          <p:nvPr/>
        </p:nvSpPr>
        <p:spPr>
          <a:xfrm>
            <a:off x="6711696" y="2926080"/>
            <a:ext cx="1947672" cy="1554480"/>
          </a:xfrm>
          <a:prstGeom prst="roundRect">
            <a:avLst>
              <a:gd name="adj" fmla="val 4706"/>
            </a:avLst>
          </a:prstGeom>
          <a:solidFill>
            <a:srgbClr val="F4F1FA"/>
          </a:solidFill>
          <a:ln w="12700">
            <a:solidFill>
              <a:srgbClr val="F4F1FA"/>
            </a:solidFill>
            <a:prstDash val="solid"/>
          </a:ln>
        </p:spPr>
      </p:sp>
      <p:sp>
        <p:nvSpPr>
          <p:cNvPr id="42" name="svi7"/>
          <p:cNvSpPr/>
          <p:nvPr/>
        </p:nvSpPr>
        <p:spPr>
          <a:xfrm>
            <a:off x="6876288" y="3090672"/>
            <a:ext cx="457200" cy="457200"/>
          </a:xfrm>
          <a:prstGeom prst="ellipse">
            <a:avLst/>
          </a:prstGeom>
          <a:solidFill>
            <a:srgbClr val="2D52A9"/>
          </a:solidFill>
          <a:ln w="12700">
            <a:solidFill>
              <a:srgbClr val="2D52A9"/>
            </a:solidFill>
            <a:prstDash val="solid"/>
          </a:ln>
        </p:spPr>
      </p:sp>
      <p:pic>
        <p:nvPicPr>
          <p:cNvPr id="43" name="Image 7" descr="preencoded.png">    </p:cNvPr>
          <p:cNvPicPr>
            <a:picLocks noChangeAspect="1"/>
          </p:cNvPicPr>
          <p:nvPr/>
        </p:nvPicPr>
        <p:blipFill>
          <a:blip r:embed="rId8"/>
          <a:stretch>
            <a:fillRect/>
          </a:stretch>
        </p:blipFill>
        <p:spPr>
          <a:xfrm>
            <a:off x="6990588" y="3204972"/>
            <a:ext cx="228600" cy="228600"/>
          </a:xfrm>
          <a:prstGeom prst="rect">
            <a:avLst/>
          </a:prstGeom>
        </p:spPr>
      </p:pic>
      <p:sp>
        <p:nvSpPr>
          <p:cNvPr id="44" name="Text 34"/>
          <p:cNvSpPr txBox="1"/>
          <p:nvPr/>
        </p:nvSpPr>
        <p:spPr>
          <a:xfrm>
            <a:off x="6876288" y="3611880"/>
            <a:ext cx="1691640" cy="36576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Approvals &amp; Estimation</a:t>
            </a:r>
            <a:endParaRPr lang="en-US" sz="1250" dirty="0"/>
          </a:p>
        </p:txBody>
      </p:sp>
      <p:sp>
        <p:nvSpPr>
          <p:cNvPr id="45" name="Text 35"/>
          <p:cNvSpPr txBox="1"/>
          <p:nvPr/>
        </p:nvSpPr>
        <p:spPr>
          <a:xfrm>
            <a:off x="6876288" y="3959352"/>
            <a:ext cx="1691640" cy="475488"/>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Plan approvals support and detailed cost estimates</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SERVICES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Process and FAQs</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How we deliver, and answers to common questions</a:t>
            </a:r>
            <a:endParaRPr lang="en-US" sz="2400" dirty="0"/>
          </a:p>
        </p:txBody>
      </p:sp>
      <p:sp>
        <p:nvSpPr>
          <p:cNvPr id="6" name="pr0"/>
          <p:cNvSpPr/>
          <p:nvPr/>
        </p:nvSpPr>
        <p:spPr>
          <a:xfrm>
            <a:off x="457200" y="1234440"/>
            <a:ext cx="1627632" cy="502920"/>
          </a:xfrm>
          <a:prstGeom prst="homePlate">
            <a:avLst/>
          </a:prstGeom>
          <a:solidFill>
            <a:srgbClr val="6A45A6"/>
          </a:solidFill>
          <a:ln w="12700">
            <a:solidFill>
              <a:srgbClr val="6A45A6"/>
            </a:solidFill>
            <a:prstDash val="solid"/>
          </a:ln>
        </p:spPr>
      </p:sp>
      <p:sp>
        <p:nvSpPr>
          <p:cNvPr id="7" name="Text 5"/>
          <p:cNvSpPr txBox="1"/>
          <p:nvPr/>
        </p:nvSpPr>
        <p:spPr>
          <a:xfrm>
            <a:off x="640080" y="1234440"/>
            <a:ext cx="1280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Consult</a:t>
            </a:r>
            <a:endParaRPr lang="en-US" sz="1300" dirty="0"/>
          </a:p>
        </p:txBody>
      </p:sp>
      <p:sp>
        <p:nvSpPr>
          <p:cNvPr id="8" name="pr1"/>
          <p:cNvSpPr/>
          <p:nvPr/>
        </p:nvSpPr>
        <p:spPr>
          <a:xfrm>
            <a:off x="2103120" y="1234440"/>
            <a:ext cx="1627632" cy="502920"/>
          </a:xfrm>
          <a:prstGeom prst="chevron">
            <a:avLst/>
          </a:prstGeom>
          <a:solidFill>
            <a:srgbClr val="2D52A9"/>
          </a:solidFill>
          <a:ln w="12700">
            <a:solidFill>
              <a:srgbClr val="2D52A9"/>
            </a:solidFill>
            <a:prstDash val="solid"/>
          </a:ln>
        </p:spPr>
      </p:sp>
      <p:sp>
        <p:nvSpPr>
          <p:cNvPr id="9" name="Text 7"/>
          <p:cNvSpPr txBox="1"/>
          <p:nvPr/>
        </p:nvSpPr>
        <p:spPr>
          <a:xfrm>
            <a:off x="2286000" y="1234440"/>
            <a:ext cx="1280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Design</a:t>
            </a:r>
            <a:endParaRPr lang="en-US" sz="1300" dirty="0"/>
          </a:p>
        </p:txBody>
      </p:sp>
      <p:sp>
        <p:nvSpPr>
          <p:cNvPr id="10" name="pr2"/>
          <p:cNvSpPr/>
          <p:nvPr/>
        </p:nvSpPr>
        <p:spPr>
          <a:xfrm>
            <a:off x="3749040" y="1234440"/>
            <a:ext cx="1627632" cy="502920"/>
          </a:xfrm>
          <a:prstGeom prst="chevron">
            <a:avLst/>
          </a:prstGeom>
          <a:solidFill>
            <a:srgbClr val="6A45A6"/>
          </a:solidFill>
          <a:ln w="12700">
            <a:solidFill>
              <a:srgbClr val="6A45A6"/>
            </a:solidFill>
            <a:prstDash val="solid"/>
          </a:ln>
        </p:spPr>
      </p:sp>
      <p:sp>
        <p:nvSpPr>
          <p:cNvPr id="11" name="Text 9"/>
          <p:cNvSpPr txBox="1"/>
          <p:nvPr/>
        </p:nvSpPr>
        <p:spPr>
          <a:xfrm>
            <a:off x="3931920" y="1234440"/>
            <a:ext cx="1280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Estimate</a:t>
            </a:r>
            <a:endParaRPr lang="en-US" sz="1300" dirty="0"/>
          </a:p>
        </p:txBody>
      </p:sp>
      <p:sp>
        <p:nvSpPr>
          <p:cNvPr id="12" name="pr3"/>
          <p:cNvSpPr/>
          <p:nvPr/>
        </p:nvSpPr>
        <p:spPr>
          <a:xfrm>
            <a:off x="5394960" y="1234440"/>
            <a:ext cx="1627632" cy="502920"/>
          </a:xfrm>
          <a:prstGeom prst="chevron">
            <a:avLst/>
          </a:prstGeom>
          <a:solidFill>
            <a:srgbClr val="2D52A9"/>
          </a:solidFill>
          <a:ln w="12700">
            <a:solidFill>
              <a:srgbClr val="2D52A9"/>
            </a:solidFill>
            <a:prstDash val="solid"/>
          </a:ln>
        </p:spPr>
      </p:sp>
      <p:sp>
        <p:nvSpPr>
          <p:cNvPr id="13" name="Text 11"/>
          <p:cNvSpPr txBox="1"/>
          <p:nvPr/>
        </p:nvSpPr>
        <p:spPr>
          <a:xfrm>
            <a:off x="5577840" y="1234440"/>
            <a:ext cx="1280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p>
        </p:txBody>
      </p:sp>
      <p:sp>
        <p:nvSpPr>
          <p:cNvPr id="14" name="pr4"/>
          <p:cNvSpPr/>
          <p:nvPr/>
        </p:nvSpPr>
        <p:spPr>
          <a:xfrm>
            <a:off x="7040880" y="1234440"/>
            <a:ext cx="1627632" cy="502920"/>
          </a:xfrm>
          <a:prstGeom prst="chevron">
            <a:avLst/>
          </a:prstGeom>
          <a:solidFill>
            <a:srgbClr val="6A45A6"/>
          </a:solidFill>
          <a:ln w="12700">
            <a:solidFill>
              <a:srgbClr val="6A45A6"/>
            </a:solidFill>
            <a:prstDash val="solid"/>
          </a:ln>
        </p:spPr>
      </p:sp>
      <p:sp>
        <p:nvSpPr>
          <p:cNvPr id="15" name="Text 13"/>
          <p:cNvSpPr txBox="1"/>
          <p:nvPr/>
        </p:nvSpPr>
        <p:spPr>
          <a:xfrm>
            <a:off x="7223760" y="1234440"/>
            <a:ext cx="12801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Handover</a:t>
            </a:r>
            <a:endParaRPr lang="en-US" sz="1300" dirty="0"/>
          </a:p>
        </p:txBody>
      </p:sp>
      <p:sp>
        <p:nvSpPr>
          <p:cNvPr id="16" name="Text 14"/>
          <p:cNvSpPr txBox="1"/>
          <p:nvPr/>
        </p:nvSpPr>
        <p:spPr>
          <a:xfrm>
            <a:off x="457200" y="1965960"/>
            <a:ext cx="4572000" cy="228600"/>
          </a:xfrm>
          <a:prstGeom prst="rect">
            <a:avLst/>
          </a:prstGeom>
          <a:noFill/>
          <a:ln/>
        </p:spPr>
        <p:txBody>
          <a:bodyPr wrap="square" lIns="0" tIns="0" rIns="0" bIns="0" rtlCol="0" anchor="t"/>
          <a:lstStyle/>
          <a:p>
            <a:pPr indent="0" marL="0">
              <a:buNone/>
            </a:pPr>
            <a:r>
              <a:rPr lang="en-US" sz="1000" b="1" spc="100" kern="0" dirty="0">
                <a:solidFill>
                  <a:schemeClr val="accent1"/>
                </a:solidFill>
                <a:latin typeface="Calibri" pitchFamily="34" charset="0"/>
                <a:ea typeface="Calibri" pitchFamily="34" charset="-122"/>
                <a:cs typeface="Calibri" pitchFamily="34" charset="-120"/>
              </a:rPr>
              <a:t>FREQUENTLY ASKED QUESTIONS</a:t>
            </a:r>
            <a:endParaRPr lang="en-US" sz="1000" dirty="0"/>
          </a:p>
        </p:txBody>
      </p:sp>
      <p:sp>
        <p:nvSpPr>
          <p:cNvPr id="17" name="faq0"/>
          <p:cNvSpPr/>
          <p:nvPr/>
        </p:nvSpPr>
        <p:spPr>
          <a:xfrm>
            <a:off x="457200" y="2240280"/>
            <a:ext cx="4023360" cy="1078992"/>
          </a:xfrm>
          <a:prstGeom prst="roundRect">
            <a:avLst>
              <a:gd name="adj" fmla="val 6780"/>
            </a:avLst>
          </a:prstGeom>
          <a:solidFill>
            <a:srgbClr val="F4F1FA"/>
          </a:solidFill>
          <a:ln w="12700">
            <a:solidFill>
              <a:srgbClr val="F4F1FA"/>
            </a:solidFill>
            <a:prstDash val="solid"/>
          </a:ln>
        </p:spPr>
      </p:sp>
      <p:sp>
        <p:nvSpPr>
          <p:cNvPr id="18" name="Text 16"/>
          <p:cNvSpPr txBox="1"/>
          <p:nvPr/>
        </p:nvSpPr>
        <p:spPr>
          <a:xfrm>
            <a:off x="640080" y="2350008"/>
            <a:ext cx="3657600" cy="32004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How much does it cost to build a house in Bengaluru?</a:t>
            </a:r>
            <a:endParaRPr lang="en-US" sz="1250" dirty="0"/>
          </a:p>
        </p:txBody>
      </p:sp>
      <p:sp>
        <p:nvSpPr>
          <p:cNvPr id="19" name="Text 17"/>
          <p:cNvSpPr txBox="1"/>
          <p:nvPr/>
        </p:nvSpPr>
        <p:spPr>
          <a:xfrm>
            <a:off x="640080" y="2697480"/>
            <a:ext cx="3657600" cy="566928"/>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It depends on size, specifications and site. We share a free, itemised estimate after a site visit.</a:t>
            </a:r>
            <a:endParaRPr lang="en-US" sz="1150" dirty="0"/>
          </a:p>
        </p:txBody>
      </p:sp>
      <p:sp>
        <p:nvSpPr>
          <p:cNvPr id="20" name="faq1"/>
          <p:cNvSpPr/>
          <p:nvPr/>
        </p:nvSpPr>
        <p:spPr>
          <a:xfrm>
            <a:off x="4663440" y="2240280"/>
            <a:ext cx="4023360" cy="1078992"/>
          </a:xfrm>
          <a:prstGeom prst="roundRect">
            <a:avLst>
              <a:gd name="adj" fmla="val 6780"/>
            </a:avLst>
          </a:prstGeom>
          <a:solidFill>
            <a:srgbClr val="F4F1FA"/>
          </a:solidFill>
          <a:ln w="12700">
            <a:solidFill>
              <a:srgbClr val="F4F1FA"/>
            </a:solidFill>
            <a:prstDash val="solid"/>
          </a:ln>
        </p:spPr>
      </p:sp>
      <p:sp>
        <p:nvSpPr>
          <p:cNvPr id="21" name="Text 19"/>
          <p:cNvSpPr txBox="1"/>
          <p:nvPr/>
        </p:nvSpPr>
        <p:spPr>
          <a:xfrm>
            <a:off x="4846320" y="2350008"/>
            <a:ext cx="3657600" cy="32004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How long does construction take?</a:t>
            </a:r>
            <a:endParaRPr lang="en-US" sz="1250" dirty="0"/>
          </a:p>
        </p:txBody>
      </p:sp>
      <p:sp>
        <p:nvSpPr>
          <p:cNvPr id="22" name="Text 20"/>
          <p:cNvSpPr txBox="1"/>
          <p:nvPr/>
        </p:nvSpPr>
        <p:spPr>
          <a:xfrm>
            <a:off x="4846320" y="2697480"/>
            <a:ext cx="3657600" cy="566928"/>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A typical G+2 home takes [X–Y] months; we share a stage-wise schedule at the start.</a:t>
            </a:r>
            <a:endParaRPr lang="en-US" sz="1150" dirty="0"/>
          </a:p>
        </p:txBody>
      </p:sp>
      <p:sp>
        <p:nvSpPr>
          <p:cNvPr id="23" name="faq2"/>
          <p:cNvSpPr/>
          <p:nvPr/>
        </p:nvSpPr>
        <p:spPr>
          <a:xfrm>
            <a:off x="457200" y="3429000"/>
            <a:ext cx="4023360" cy="1078992"/>
          </a:xfrm>
          <a:prstGeom prst="roundRect">
            <a:avLst>
              <a:gd name="adj" fmla="val 6780"/>
            </a:avLst>
          </a:prstGeom>
          <a:solidFill>
            <a:srgbClr val="F4F1FA"/>
          </a:solidFill>
          <a:ln w="12700">
            <a:solidFill>
              <a:srgbClr val="F4F1FA"/>
            </a:solidFill>
            <a:prstDash val="solid"/>
          </a:ln>
        </p:spPr>
      </p:sp>
      <p:sp>
        <p:nvSpPr>
          <p:cNvPr id="24" name="Text 22"/>
          <p:cNvSpPr txBox="1"/>
          <p:nvPr/>
        </p:nvSpPr>
        <p:spPr>
          <a:xfrm>
            <a:off x="640080" y="3538728"/>
            <a:ext cx="3657600" cy="32004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Do you help with plan approvals?</a:t>
            </a:r>
            <a:endParaRPr lang="en-US" sz="1250" dirty="0"/>
          </a:p>
        </p:txBody>
      </p:sp>
      <p:sp>
        <p:nvSpPr>
          <p:cNvPr id="25" name="Text 23"/>
          <p:cNvSpPr txBox="1"/>
          <p:nvPr/>
        </p:nvSpPr>
        <p:spPr>
          <a:xfrm>
            <a:off x="640080" y="3886200"/>
            <a:ext cx="3657600" cy="566928"/>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Yes. We prepare drawings and support you through the approval process.</a:t>
            </a:r>
            <a:endParaRPr lang="en-US" sz="1150" dirty="0"/>
          </a:p>
        </p:txBody>
      </p:sp>
      <p:sp>
        <p:nvSpPr>
          <p:cNvPr id="26" name="faq3"/>
          <p:cNvSpPr/>
          <p:nvPr/>
        </p:nvSpPr>
        <p:spPr>
          <a:xfrm>
            <a:off x="4663440" y="3429000"/>
            <a:ext cx="4023360" cy="1078992"/>
          </a:xfrm>
          <a:prstGeom prst="roundRect">
            <a:avLst>
              <a:gd name="adj" fmla="val 6780"/>
            </a:avLst>
          </a:prstGeom>
          <a:solidFill>
            <a:srgbClr val="F4F1FA"/>
          </a:solidFill>
          <a:ln w="12700">
            <a:solidFill>
              <a:srgbClr val="F4F1FA"/>
            </a:solidFill>
            <a:prstDash val="solid"/>
          </a:ln>
        </p:spPr>
      </p:sp>
      <p:sp>
        <p:nvSpPr>
          <p:cNvPr id="27" name="Text 25"/>
          <p:cNvSpPr txBox="1"/>
          <p:nvPr/>
        </p:nvSpPr>
        <p:spPr>
          <a:xfrm>
            <a:off x="4846320" y="3538728"/>
            <a:ext cx="3657600" cy="32004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How will I track progress?</a:t>
            </a:r>
            <a:endParaRPr lang="en-US" sz="1250" dirty="0"/>
          </a:p>
        </p:txBody>
      </p:sp>
      <p:sp>
        <p:nvSpPr>
          <p:cNvPr id="28" name="Text 26"/>
          <p:cNvSpPr txBox="1"/>
          <p:nvPr/>
        </p:nvSpPr>
        <p:spPr>
          <a:xfrm>
            <a:off x="4846320" y="3886200"/>
            <a:ext cx="3657600" cy="566928"/>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You get regular photo updates and site visits with your project engineer.</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CONTACT US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Contact details, form and map</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Let’s Build Something Great Together</a:t>
            </a:r>
            <a:endParaRPr lang="en-US" sz="24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Have a plot, a plan or just an idea? Talk to our team for a free consultation.</a:t>
            </a:r>
            <a:endParaRPr lang="en-US" sz="1300" dirty="0"/>
          </a:p>
        </p:txBody>
      </p:sp>
      <p:sp>
        <p:nvSpPr>
          <p:cNvPr id="7" name="ci0"/>
          <p:cNvSpPr/>
          <p:nvPr/>
        </p:nvSpPr>
        <p:spPr>
          <a:xfrm>
            <a:off x="457200" y="1645920"/>
            <a:ext cx="347472" cy="347472"/>
          </a:xfrm>
          <a:prstGeom prst="ellipse">
            <a:avLst/>
          </a:prstGeom>
          <a:solidFill>
            <a:srgbClr val="6A45A6"/>
          </a:solidFill>
          <a:ln w="12700">
            <a:solidFill>
              <a:srgbClr val="6A45A6"/>
            </a:solidFill>
            <a:prstDash val="solid"/>
          </a:ln>
        </p:spPr>
      </p:sp>
      <p:pic>
        <p:nvPicPr>
          <p:cNvPr id="8" name="Image 0" descr="preencoded.png">    </p:cNvPr>
          <p:cNvPicPr>
            <a:picLocks noChangeAspect="1"/>
          </p:cNvPicPr>
          <p:nvPr/>
        </p:nvPicPr>
        <p:blipFill>
          <a:blip r:embed="rId1"/>
          <a:stretch>
            <a:fillRect/>
          </a:stretch>
        </p:blipFill>
        <p:spPr>
          <a:xfrm>
            <a:off x="544068" y="1732788"/>
            <a:ext cx="173736" cy="173736"/>
          </a:xfrm>
          <a:prstGeom prst="rect">
            <a:avLst/>
          </a:prstGeom>
        </p:spPr>
      </p:pic>
      <p:sp>
        <p:nvSpPr>
          <p:cNvPr id="9" name="Text 6"/>
          <p:cNvSpPr txBox="1"/>
          <p:nvPr/>
        </p:nvSpPr>
        <p:spPr>
          <a:xfrm>
            <a:off x="914400" y="1627632"/>
            <a:ext cx="3657600" cy="50292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#4/2, 80 Feet Road, 4th Cross, Bhuvaneshwari Nagar, near Mathru Diagnostic Center, Banashankari 3rd Stage, Bengaluru 560085</a:t>
            </a:r>
            <a:endParaRPr lang="en-US" sz="1100" dirty="0"/>
          </a:p>
        </p:txBody>
      </p:sp>
      <p:sp>
        <p:nvSpPr>
          <p:cNvPr id="10" name="ci1"/>
          <p:cNvSpPr/>
          <p:nvPr/>
        </p:nvSpPr>
        <p:spPr>
          <a:xfrm>
            <a:off x="457200" y="2194560"/>
            <a:ext cx="347472" cy="347472"/>
          </a:xfrm>
          <a:prstGeom prst="ellipse">
            <a:avLst/>
          </a:prstGeom>
          <a:solidFill>
            <a:srgbClr val="6A45A6"/>
          </a:solidFill>
          <a:ln w="12700">
            <a:solidFill>
              <a:srgbClr val="6A45A6"/>
            </a:solidFill>
            <a:prstDash val="solid"/>
          </a:ln>
        </p:spPr>
      </p:sp>
      <p:pic>
        <p:nvPicPr>
          <p:cNvPr id="11" name="Image 1" descr="preencoded.png">    </p:cNvPr>
          <p:cNvPicPr>
            <a:picLocks noChangeAspect="1"/>
          </p:cNvPicPr>
          <p:nvPr/>
        </p:nvPicPr>
        <p:blipFill>
          <a:blip r:embed="rId2"/>
          <a:stretch>
            <a:fillRect/>
          </a:stretch>
        </p:blipFill>
        <p:spPr>
          <a:xfrm>
            <a:off x="544068" y="2281428"/>
            <a:ext cx="173736" cy="173736"/>
          </a:xfrm>
          <a:prstGeom prst="rect">
            <a:avLst/>
          </a:prstGeom>
        </p:spPr>
      </p:pic>
      <p:sp>
        <p:nvSpPr>
          <p:cNvPr id="12" name="Text 8"/>
          <p:cNvSpPr txBox="1"/>
          <p:nvPr/>
        </p:nvSpPr>
        <p:spPr>
          <a:xfrm>
            <a:off x="914400" y="2176272"/>
            <a:ext cx="365760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+91 8147573925</a:t>
            </a:r>
            <a:endParaRPr lang="en-US" sz="1200" dirty="0"/>
          </a:p>
        </p:txBody>
      </p:sp>
      <p:sp>
        <p:nvSpPr>
          <p:cNvPr id="13" name="ci2"/>
          <p:cNvSpPr/>
          <p:nvPr/>
        </p:nvSpPr>
        <p:spPr>
          <a:xfrm>
            <a:off x="457200" y="2615184"/>
            <a:ext cx="347472" cy="347472"/>
          </a:xfrm>
          <a:prstGeom prst="ellipse">
            <a:avLst/>
          </a:prstGeom>
          <a:solidFill>
            <a:srgbClr val="6A45A6"/>
          </a:solidFill>
          <a:ln w="12700">
            <a:solidFill>
              <a:srgbClr val="6A45A6"/>
            </a:solidFill>
            <a:prstDash val="solid"/>
          </a:ln>
        </p:spPr>
      </p:sp>
      <p:pic>
        <p:nvPicPr>
          <p:cNvPr id="14" name="Image 2" descr="preencoded.png">    </p:cNvPr>
          <p:cNvPicPr>
            <a:picLocks noChangeAspect="1"/>
          </p:cNvPicPr>
          <p:nvPr/>
        </p:nvPicPr>
        <p:blipFill>
          <a:blip r:embed="rId3"/>
          <a:stretch>
            <a:fillRect/>
          </a:stretch>
        </p:blipFill>
        <p:spPr>
          <a:xfrm>
            <a:off x="544068" y="2702052"/>
            <a:ext cx="173736" cy="173736"/>
          </a:xfrm>
          <a:prstGeom prst="rect">
            <a:avLst/>
          </a:prstGeom>
        </p:spPr>
      </p:pic>
      <p:sp>
        <p:nvSpPr>
          <p:cNvPr id="15" name="Text 10"/>
          <p:cNvSpPr txBox="1"/>
          <p:nvPr/>
        </p:nvSpPr>
        <p:spPr>
          <a:xfrm>
            <a:off x="914400" y="2596896"/>
            <a:ext cx="365760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sales@shrilakshmiconstructions.com</a:t>
            </a:r>
            <a:endParaRPr lang="en-US" sz="1200" dirty="0"/>
          </a:p>
        </p:txBody>
      </p:sp>
      <p:sp>
        <p:nvSpPr>
          <p:cNvPr id="16" name="ci3"/>
          <p:cNvSpPr/>
          <p:nvPr/>
        </p:nvSpPr>
        <p:spPr>
          <a:xfrm>
            <a:off x="457200" y="3035808"/>
            <a:ext cx="347472" cy="347472"/>
          </a:xfrm>
          <a:prstGeom prst="ellipse">
            <a:avLst/>
          </a:prstGeom>
          <a:solidFill>
            <a:srgbClr val="6A45A6"/>
          </a:solidFill>
          <a:ln w="12700">
            <a:solidFill>
              <a:srgbClr val="6A45A6"/>
            </a:solidFill>
            <a:prstDash val="solid"/>
          </a:ln>
        </p:spPr>
      </p:sp>
      <p:pic>
        <p:nvPicPr>
          <p:cNvPr id="17" name="Image 3" descr="preencoded.png">    </p:cNvPr>
          <p:cNvPicPr>
            <a:picLocks noChangeAspect="1"/>
          </p:cNvPicPr>
          <p:nvPr/>
        </p:nvPicPr>
        <p:blipFill>
          <a:blip r:embed="rId4"/>
          <a:stretch>
            <a:fillRect/>
          </a:stretch>
        </p:blipFill>
        <p:spPr>
          <a:xfrm>
            <a:off x="544068" y="3122676"/>
            <a:ext cx="173736" cy="173736"/>
          </a:xfrm>
          <a:prstGeom prst="rect">
            <a:avLst/>
          </a:prstGeom>
        </p:spPr>
      </p:pic>
      <p:sp>
        <p:nvSpPr>
          <p:cNvPr id="18" name="Text 12"/>
          <p:cNvSpPr txBox="1"/>
          <p:nvPr/>
        </p:nvSpPr>
        <p:spPr>
          <a:xfrm>
            <a:off x="914400" y="3017520"/>
            <a:ext cx="365760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www.shrilakshmiconstructions.com</a:t>
            </a:r>
            <a:endParaRPr lang="en-US" sz="1200" dirty="0"/>
          </a:p>
        </p:txBody>
      </p:sp>
      <p:sp>
        <p:nvSpPr>
          <p:cNvPr id="19" name="ci4"/>
          <p:cNvSpPr/>
          <p:nvPr/>
        </p:nvSpPr>
        <p:spPr>
          <a:xfrm>
            <a:off x="457200" y="3456432"/>
            <a:ext cx="347472" cy="347472"/>
          </a:xfrm>
          <a:prstGeom prst="ellipse">
            <a:avLst/>
          </a:prstGeom>
          <a:solidFill>
            <a:srgbClr val="6A45A6"/>
          </a:solidFill>
          <a:ln w="12700">
            <a:solidFill>
              <a:srgbClr val="6A45A6"/>
            </a:solidFill>
            <a:prstDash val="solid"/>
          </a:ln>
        </p:spPr>
      </p:sp>
      <p:pic>
        <p:nvPicPr>
          <p:cNvPr id="20" name="Image 4" descr="preencoded.png">    </p:cNvPr>
          <p:cNvPicPr>
            <a:picLocks noChangeAspect="1"/>
          </p:cNvPicPr>
          <p:nvPr/>
        </p:nvPicPr>
        <p:blipFill>
          <a:blip r:embed="rId5"/>
          <a:stretch>
            <a:fillRect/>
          </a:stretch>
        </p:blipFill>
        <p:spPr>
          <a:xfrm>
            <a:off x="544068" y="3543300"/>
            <a:ext cx="173736" cy="173736"/>
          </a:xfrm>
          <a:prstGeom prst="rect">
            <a:avLst/>
          </a:prstGeom>
        </p:spPr>
      </p:pic>
      <p:sp>
        <p:nvSpPr>
          <p:cNvPr id="21" name="Text 14"/>
          <p:cNvSpPr txBox="1"/>
          <p:nvPr/>
        </p:nvSpPr>
        <p:spPr>
          <a:xfrm>
            <a:off x="914400" y="3438144"/>
            <a:ext cx="365760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@shri.lakshmi.constructions</a:t>
            </a:r>
            <a:endParaRPr lang="en-US" sz="1200" dirty="0"/>
          </a:p>
        </p:txBody>
      </p:sp>
      <p:sp>
        <p:nvSpPr>
          <p:cNvPr id="22" name="ci5"/>
          <p:cNvSpPr/>
          <p:nvPr/>
        </p:nvSpPr>
        <p:spPr>
          <a:xfrm>
            <a:off x="457200" y="3877056"/>
            <a:ext cx="347472" cy="347472"/>
          </a:xfrm>
          <a:prstGeom prst="ellipse">
            <a:avLst/>
          </a:prstGeom>
          <a:solidFill>
            <a:srgbClr val="6A45A6"/>
          </a:solidFill>
          <a:ln w="12700">
            <a:solidFill>
              <a:srgbClr val="6A45A6"/>
            </a:solidFill>
            <a:prstDash val="solid"/>
          </a:ln>
        </p:spPr>
      </p:sp>
      <p:pic>
        <p:nvPicPr>
          <p:cNvPr id="23" name="Image 5" descr="preencoded.png">    </p:cNvPr>
          <p:cNvPicPr>
            <a:picLocks noChangeAspect="1"/>
          </p:cNvPicPr>
          <p:nvPr/>
        </p:nvPicPr>
        <p:blipFill>
          <a:blip r:embed="rId6"/>
          <a:stretch>
            <a:fillRect/>
          </a:stretch>
        </p:blipFill>
        <p:spPr>
          <a:xfrm>
            <a:off x="544068" y="3963924"/>
            <a:ext cx="173736" cy="173736"/>
          </a:xfrm>
          <a:prstGeom prst="rect">
            <a:avLst/>
          </a:prstGeom>
        </p:spPr>
      </p:pic>
      <p:sp>
        <p:nvSpPr>
          <p:cNvPr id="24" name="Text 16"/>
          <p:cNvSpPr txBox="1"/>
          <p:nvPr/>
        </p:nvSpPr>
        <p:spPr>
          <a:xfrm>
            <a:off x="914400" y="3858768"/>
            <a:ext cx="365760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Mon–Sat, 9:30 AM – 6:30 PM</a:t>
            </a:r>
            <a:endParaRPr lang="en-US" sz="1200" dirty="0"/>
          </a:p>
        </p:txBody>
      </p:sp>
      <p:sp>
        <p:nvSpPr>
          <p:cNvPr id="25" name="form"/>
          <p:cNvSpPr/>
          <p:nvPr/>
        </p:nvSpPr>
        <p:spPr>
          <a:xfrm>
            <a:off x="4937760" y="1600200"/>
            <a:ext cx="3749040" cy="2971800"/>
          </a:xfrm>
          <a:prstGeom prst="roundRect">
            <a:avLst>
              <a:gd name="adj" fmla="val 2462"/>
            </a:avLst>
          </a:prstGeom>
          <a:solidFill>
            <a:srgbClr val="1F1F5C"/>
          </a:solidFill>
          <a:ln w="12700">
            <a:solidFill>
              <a:srgbClr val="1F1F5C"/>
            </a:solidFill>
            <a:prstDash val="solid"/>
          </a:ln>
        </p:spPr>
      </p:sp>
      <p:sp>
        <p:nvSpPr>
          <p:cNvPr id="26" name="Text 18"/>
          <p:cNvSpPr txBox="1"/>
          <p:nvPr/>
        </p:nvSpPr>
        <p:spPr>
          <a:xfrm>
            <a:off x="5166360" y="1737360"/>
            <a:ext cx="329184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Enquiry form</a:t>
            </a:r>
            <a:endParaRPr lang="en-US" sz="1500" dirty="0"/>
          </a:p>
        </p:txBody>
      </p:sp>
      <p:sp>
        <p:nvSpPr>
          <p:cNvPr id="27" name="ff0"/>
          <p:cNvSpPr/>
          <p:nvPr/>
        </p:nvSpPr>
        <p:spPr>
          <a:xfrm>
            <a:off x="5166360" y="2148840"/>
            <a:ext cx="3291840" cy="310896"/>
          </a:xfrm>
          <a:prstGeom prst="roundRect">
            <a:avLst>
              <a:gd name="adj" fmla="val 23529"/>
            </a:avLst>
          </a:prstGeom>
          <a:solidFill>
            <a:srgbClr val="2C2C70"/>
          </a:solidFill>
          <a:ln w="12700">
            <a:solidFill>
              <a:srgbClr val="4A4A90"/>
            </a:solidFill>
            <a:prstDash val="solid"/>
          </a:ln>
        </p:spPr>
      </p:sp>
      <p:sp>
        <p:nvSpPr>
          <p:cNvPr id="28" name="Text 20"/>
          <p:cNvSpPr txBox="1"/>
          <p:nvPr/>
        </p:nvSpPr>
        <p:spPr>
          <a:xfrm>
            <a:off x="5285232" y="2148840"/>
            <a:ext cx="3108960" cy="310896"/>
          </a:xfrm>
          <a:prstGeom prst="rect">
            <a:avLst/>
          </a:prstGeom>
          <a:noFill/>
          <a:ln/>
        </p:spPr>
        <p:txBody>
          <a:bodyPr wrap="square" lIns="0" tIns="0" rIns="0" bIns="0" rtlCol="0" anchor="ctr"/>
          <a:lstStyle/>
          <a:p>
            <a:pPr indent="0" marL="0">
              <a:buNone/>
            </a:pPr>
            <a:r>
              <a:rPr lang="en-US" sz="1050" dirty="0">
                <a:solidFill>
                  <a:srgbClr val="C9B6EA"/>
                </a:solidFill>
                <a:latin typeface="Calibri" pitchFamily="34" charset="0"/>
                <a:ea typeface="Calibri" pitchFamily="34" charset="-122"/>
                <a:cs typeface="Calibri" pitchFamily="34" charset="-120"/>
              </a:rPr>
              <a:t>Full name*</a:t>
            </a:r>
            <a:endParaRPr lang="en-US" sz="1050" dirty="0"/>
          </a:p>
        </p:txBody>
      </p:sp>
      <p:sp>
        <p:nvSpPr>
          <p:cNvPr id="29" name="ff1"/>
          <p:cNvSpPr/>
          <p:nvPr/>
        </p:nvSpPr>
        <p:spPr>
          <a:xfrm>
            <a:off x="5166360" y="2532888"/>
            <a:ext cx="3291840" cy="310896"/>
          </a:xfrm>
          <a:prstGeom prst="roundRect">
            <a:avLst>
              <a:gd name="adj" fmla="val 23529"/>
            </a:avLst>
          </a:prstGeom>
          <a:solidFill>
            <a:srgbClr val="2C2C70"/>
          </a:solidFill>
          <a:ln w="12700">
            <a:solidFill>
              <a:srgbClr val="4A4A90"/>
            </a:solidFill>
            <a:prstDash val="solid"/>
          </a:ln>
        </p:spPr>
      </p:sp>
      <p:sp>
        <p:nvSpPr>
          <p:cNvPr id="30" name="Text 22"/>
          <p:cNvSpPr txBox="1"/>
          <p:nvPr/>
        </p:nvSpPr>
        <p:spPr>
          <a:xfrm>
            <a:off x="5285232" y="2532888"/>
            <a:ext cx="3108960" cy="310896"/>
          </a:xfrm>
          <a:prstGeom prst="rect">
            <a:avLst/>
          </a:prstGeom>
          <a:noFill/>
          <a:ln/>
        </p:spPr>
        <p:txBody>
          <a:bodyPr wrap="square" lIns="0" tIns="0" rIns="0" bIns="0" rtlCol="0" anchor="ctr"/>
          <a:lstStyle/>
          <a:p>
            <a:pPr indent="0" marL="0">
              <a:buNone/>
            </a:pPr>
            <a:r>
              <a:rPr lang="en-US" sz="1050" dirty="0">
                <a:solidFill>
                  <a:srgbClr val="C9B6EA"/>
                </a:solidFill>
                <a:latin typeface="Calibri" pitchFamily="34" charset="0"/>
                <a:ea typeface="Calibri" pitchFamily="34" charset="-122"/>
                <a:cs typeface="Calibri" pitchFamily="34" charset="-120"/>
              </a:rPr>
              <a:t>Phone number*</a:t>
            </a:r>
            <a:endParaRPr lang="en-US" sz="1050" dirty="0"/>
          </a:p>
        </p:txBody>
      </p:sp>
      <p:sp>
        <p:nvSpPr>
          <p:cNvPr id="31" name="ff2"/>
          <p:cNvSpPr/>
          <p:nvPr/>
        </p:nvSpPr>
        <p:spPr>
          <a:xfrm>
            <a:off x="5166360" y="2916936"/>
            <a:ext cx="3291840" cy="310896"/>
          </a:xfrm>
          <a:prstGeom prst="roundRect">
            <a:avLst>
              <a:gd name="adj" fmla="val 23529"/>
            </a:avLst>
          </a:prstGeom>
          <a:solidFill>
            <a:srgbClr val="2C2C70"/>
          </a:solidFill>
          <a:ln w="12700">
            <a:solidFill>
              <a:srgbClr val="4A4A90"/>
            </a:solidFill>
            <a:prstDash val="solid"/>
          </a:ln>
        </p:spPr>
      </p:sp>
      <p:sp>
        <p:nvSpPr>
          <p:cNvPr id="32" name="Text 24"/>
          <p:cNvSpPr txBox="1"/>
          <p:nvPr/>
        </p:nvSpPr>
        <p:spPr>
          <a:xfrm>
            <a:off x="5285232" y="2916936"/>
            <a:ext cx="3108960" cy="310896"/>
          </a:xfrm>
          <a:prstGeom prst="rect">
            <a:avLst/>
          </a:prstGeom>
          <a:noFill/>
          <a:ln/>
        </p:spPr>
        <p:txBody>
          <a:bodyPr wrap="square" lIns="0" tIns="0" rIns="0" bIns="0" rtlCol="0" anchor="ctr"/>
          <a:lstStyle/>
          <a:p>
            <a:pPr indent="0" marL="0">
              <a:buNone/>
            </a:pPr>
            <a:r>
              <a:rPr lang="en-US" sz="1050" dirty="0">
                <a:solidFill>
                  <a:srgbClr val="C9B6EA"/>
                </a:solidFill>
                <a:latin typeface="Calibri" pitchFamily="34" charset="0"/>
                <a:ea typeface="Calibri" pitchFamily="34" charset="-122"/>
                <a:cs typeface="Calibri" pitchFamily="34" charset="-120"/>
              </a:rPr>
              <a:t>Email</a:t>
            </a:r>
            <a:endParaRPr lang="en-US" sz="1050" dirty="0"/>
          </a:p>
        </p:txBody>
      </p:sp>
      <p:sp>
        <p:nvSpPr>
          <p:cNvPr id="33" name="ff3"/>
          <p:cNvSpPr/>
          <p:nvPr/>
        </p:nvSpPr>
        <p:spPr>
          <a:xfrm>
            <a:off x="5166360" y="3300984"/>
            <a:ext cx="3291840" cy="310896"/>
          </a:xfrm>
          <a:prstGeom prst="roundRect">
            <a:avLst>
              <a:gd name="adj" fmla="val 23529"/>
            </a:avLst>
          </a:prstGeom>
          <a:solidFill>
            <a:srgbClr val="2C2C70"/>
          </a:solidFill>
          <a:ln w="12700">
            <a:solidFill>
              <a:srgbClr val="4A4A90"/>
            </a:solidFill>
            <a:prstDash val="solid"/>
          </a:ln>
        </p:spPr>
      </p:sp>
      <p:sp>
        <p:nvSpPr>
          <p:cNvPr id="34" name="Text 26"/>
          <p:cNvSpPr txBox="1"/>
          <p:nvPr/>
        </p:nvSpPr>
        <p:spPr>
          <a:xfrm>
            <a:off x="5285232" y="3300984"/>
            <a:ext cx="3108960" cy="310896"/>
          </a:xfrm>
          <a:prstGeom prst="rect">
            <a:avLst/>
          </a:prstGeom>
          <a:noFill/>
          <a:ln/>
        </p:spPr>
        <p:txBody>
          <a:bodyPr wrap="square" lIns="0" tIns="0" rIns="0" bIns="0" rtlCol="0" anchor="ctr"/>
          <a:lstStyle/>
          <a:p>
            <a:pPr indent="0" marL="0">
              <a:buNone/>
            </a:pPr>
            <a:r>
              <a:rPr lang="en-US" sz="1050" dirty="0">
                <a:solidFill>
                  <a:srgbClr val="C9B6EA"/>
                </a:solidFill>
                <a:latin typeface="Calibri" pitchFamily="34" charset="0"/>
                <a:ea typeface="Calibri" pitchFamily="34" charset="-122"/>
                <a:cs typeface="Calibri" pitchFamily="34" charset="-120"/>
              </a:rPr>
              <a:t>I’m interested in: Residential / Commercial / Renovation / Interiors</a:t>
            </a:r>
            <a:endParaRPr lang="en-US" sz="1050" dirty="0"/>
          </a:p>
        </p:txBody>
      </p:sp>
      <p:sp>
        <p:nvSpPr>
          <p:cNvPr id="35" name="ff4"/>
          <p:cNvSpPr/>
          <p:nvPr/>
        </p:nvSpPr>
        <p:spPr>
          <a:xfrm>
            <a:off x="5166360" y="3685032"/>
            <a:ext cx="3291840" cy="310896"/>
          </a:xfrm>
          <a:prstGeom prst="roundRect">
            <a:avLst>
              <a:gd name="adj" fmla="val 23529"/>
            </a:avLst>
          </a:prstGeom>
          <a:solidFill>
            <a:srgbClr val="2C2C70"/>
          </a:solidFill>
          <a:ln w="12700">
            <a:solidFill>
              <a:srgbClr val="4A4A90"/>
            </a:solidFill>
            <a:prstDash val="solid"/>
          </a:ln>
        </p:spPr>
      </p:sp>
      <p:sp>
        <p:nvSpPr>
          <p:cNvPr id="36" name="Text 28"/>
          <p:cNvSpPr txBox="1"/>
          <p:nvPr/>
        </p:nvSpPr>
        <p:spPr>
          <a:xfrm>
            <a:off x="5285232" y="3685032"/>
            <a:ext cx="3108960" cy="310896"/>
          </a:xfrm>
          <a:prstGeom prst="rect">
            <a:avLst/>
          </a:prstGeom>
          <a:noFill/>
          <a:ln/>
        </p:spPr>
        <p:txBody>
          <a:bodyPr wrap="square" lIns="0" tIns="0" rIns="0" bIns="0" rtlCol="0" anchor="ctr"/>
          <a:lstStyle/>
          <a:p>
            <a:pPr indent="0" marL="0">
              <a:buNone/>
            </a:pPr>
            <a:r>
              <a:rPr lang="en-US" sz="1050" dirty="0">
                <a:solidFill>
                  <a:srgbClr val="C9B6EA"/>
                </a:solidFill>
                <a:latin typeface="Calibri" pitchFamily="34" charset="0"/>
                <a:ea typeface="Calibri" pitchFamily="34" charset="-122"/>
                <a:cs typeface="Calibri" pitchFamily="34" charset="-120"/>
              </a:rPr>
              <a:t>Message</a:t>
            </a:r>
            <a:endParaRPr lang="en-US" sz="1050" dirty="0"/>
          </a:p>
        </p:txBody>
      </p:sp>
      <p:sp>
        <p:nvSpPr>
          <p:cNvPr id="37" name="submit"/>
          <p:cNvSpPr/>
          <p:nvPr/>
        </p:nvSpPr>
        <p:spPr>
          <a:xfrm>
            <a:off x="5166360" y="4087368"/>
            <a:ext cx="1463040" cy="347472"/>
          </a:xfrm>
          <a:prstGeom prst="roundRect">
            <a:avLst>
              <a:gd name="adj" fmla="val 21053"/>
            </a:avLst>
          </a:prstGeom>
          <a:solidFill>
            <a:srgbClr val="6A45A6"/>
          </a:solidFill>
          <a:ln w="12700">
            <a:solidFill>
              <a:srgbClr val="6A45A6"/>
            </a:solidFill>
            <a:prstDash val="solid"/>
          </a:ln>
        </p:spPr>
      </p:sp>
      <p:sp>
        <p:nvSpPr>
          <p:cNvPr id="38" name="Text 30"/>
          <p:cNvSpPr txBox="1"/>
          <p:nvPr/>
        </p:nvSpPr>
        <p:spPr>
          <a:xfrm>
            <a:off x="5166360" y="4087368"/>
            <a:ext cx="146304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Send Enquiry</a:t>
            </a:r>
            <a:endParaRPr lang="en-US" sz="1150" dirty="0"/>
          </a:p>
        </p:txBody>
      </p:sp>
      <p:sp>
        <p:nvSpPr>
          <p:cNvPr id="39" name="Text 31"/>
          <p:cNvSpPr txBox="1"/>
          <p:nvPr/>
        </p:nvSpPr>
        <p:spPr>
          <a:xfrm>
            <a:off x="457200" y="4407408"/>
            <a:ext cx="4297680" cy="274320"/>
          </a:xfrm>
          <a:prstGeom prst="rect">
            <a:avLst/>
          </a:prstGeom>
          <a:noFill/>
          <a:ln/>
        </p:spPr>
        <p:txBody>
          <a:bodyPr wrap="square" lIns="0" tIns="0" rIns="0" bIns="0" rtlCol="0" anchor="t"/>
          <a:lstStyle/>
          <a:p>
            <a:pPr indent="0" marL="0">
              <a:buNone/>
            </a:pPr>
            <a:r>
              <a:rPr lang="en-US" sz="1000" i="1" dirty="0">
                <a:solidFill>
                  <a:srgbClr val="6B7280"/>
                </a:solidFill>
                <a:latin typeface="Calibri" pitchFamily="34" charset="0"/>
                <a:ea typeface="Calibri" pitchFamily="34" charset="-122"/>
                <a:cs typeface="Calibri" pitchFamily="34" charset="-120"/>
              </a:rPr>
              <a:t>Thank-you message: “Thank you! Our team will call you within 24 hours.”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getag"/>
          <p:cNvSpPr/>
          <p:nvPr/>
        </p:nvSpPr>
        <p:spPr>
          <a:xfrm>
            <a:off x="457200" y="274320"/>
            <a:ext cx="1463040" cy="256032"/>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457200" y="274320"/>
            <a:ext cx="1463040" cy="256032"/>
          </a:xfrm>
          <a:prstGeom prst="rect">
            <a:avLst/>
          </a:prstGeom>
          <a:noFill/>
          <a:ln/>
        </p:spPr>
        <p:txBody>
          <a:bodyPr wrap="square" lIns="0" tIns="0" rIns="0" bIns="0" rtlCol="0" anchor="ctr"/>
          <a:lstStyle/>
          <a:p>
            <a:pPr algn="ctr" indent="0" marL="0">
              <a:buNone/>
            </a:pPr>
            <a:r>
              <a:rPr lang="en-US" sz="1000" b="1" spc="100" kern="0" dirty="0">
                <a:solidFill>
                  <a:schemeClr val="bg1"/>
                </a:solidFill>
                <a:latin typeface="Calibri" pitchFamily="34" charset="0"/>
                <a:ea typeface="Calibri" pitchFamily="34" charset="-122"/>
                <a:cs typeface="Calibri" pitchFamily="34" charset="-120"/>
              </a:rPr>
              <a:t>ALL PAGES</a:t>
            </a:r>
            <a:endParaRPr lang="en-US" sz="1000" dirty="0"/>
          </a:p>
        </p:txBody>
      </p:sp>
      <p:sp>
        <p:nvSpPr>
          <p:cNvPr id="4" name="Text 2"/>
          <p:cNvSpPr txBox="1"/>
          <p:nvPr/>
        </p:nvSpPr>
        <p:spPr>
          <a:xfrm>
            <a:off x="2057400" y="274320"/>
            <a:ext cx="4572000" cy="256032"/>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Footer and SEO</a:t>
            </a:r>
            <a:endParaRPr lang="en-US" sz="1100" dirty="0"/>
          </a:p>
        </p:txBody>
      </p:sp>
      <p:sp>
        <p:nvSpPr>
          <p:cNvPr id="5" name="Text 0"/>
          <p:cNvSpPr/>
          <p:nvPr>
            <p:ph idx="101" type="title" hasCustomPrompt="1"/>
          </p:nvPr>
        </p:nvSpPr>
        <p:spPr>
          <a:xfrm>
            <a:off x="457200" y="566928"/>
            <a:ext cx="7589520" cy="548640"/>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Footer text and search-friendly page titles</a:t>
            </a:r>
            <a:endParaRPr lang="en-US" sz="2400" dirty="0"/>
          </a:p>
        </p:txBody>
      </p:sp>
      <p:sp>
        <p:nvSpPr>
          <p:cNvPr id="6" name="footer"/>
          <p:cNvSpPr/>
          <p:nvPr/>
        </p:nvSpPr>
        <p:spPr>
          <a:xfrm>
            <a:off x="457200" y="1234440"/>
            <a:ext cx="2926080" cy="3337560"/>
          </a:xfrm>
          <a:prstGeom prst="roundRect">
            <a:avLst>
              <a:gd name="adj" fmla="val 2500"/>
            </a:avLst>
          </a:prstGeom>
          <a:solidFill>
            <a:srgbClr val="1F1F5C"/>
          </a:solidFill>
          <a:ln w="12700">
            <a:solidFill>
              <a:srgbClr val="1F1F5C"/>
            </a:solidFill>
            <a:prstDash val="solid"/>
          </a:ln>
        </p:spPr>
      </p:sp>
      <p:sp>
        <p:nvSpPr>
          <p:cNvPr id="7" name="Text 5"/>
          <p:cNvSpPr txBox="1"/>
          <p:nvPr/>
        </p:nvSpPr>
        <p:spPr>
          <a:xfrm>
            <a:off x="640080" y="1371600"/>
            <a:ext cx="2560320" cy="228600"/>
          </a:xfrm>
          <a:prstGeom prst="rect">
            <a:avLst/>
          </a:prstGeom>
          <a:noFill/>
          <a:ln/>
        </p:spPr>
        <p:txBody>
          <a:bodyPr wrap="square" lIns="0" tIns="0" rIns="0" bIns="0" rtlCol="0" anchor="t"/>
          <a:lstStyle/>
          <a:p>
            <a:pPr indent="0" marL="0">
              <a:buNone/>
            </a:pPr>
            <a:r>
              <a:rPr lang="en-US" sz="1000" b="1" spc="100" kern="0" dirty="0">
                <a:solidFill>
                  <a:srgbClr val="C9B6EA"/>
                </a:solidFill>
                <a:latin typeface="Calibri" pitchFamily="34" charset="0"/>
                <a:ea typeface="Calibri" pitchFamily="34" charset="-122"/>
                <a:cs typeface="Calibri" pitchFamily="34" charset="-120"/>
              </a:rPr>
              <a:t>FOOTER</a:t>
            </a:r>
            <a:endParaRPr lang="en-US" sz="1000" dirty="0"/>
          </a:p>
        </p:txBody>
      </p:sp>
      <p:sp>
        <p:nvSpPr>
          <p:cNvPr id="8" name="Text 6"/>
          <p:cNvSpPr txBox="1"/>
          <p:nvPr/>
        </p:nvSpPr>
        <p:spPr>
          <a:xfrm>
            <a:off x="640080" y="1645920"/>
            <a:ext cx="2606040" cy="28346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Shri Lakshmi Constructions &amp; Engineers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Building trust, floor by floor. Quality construction and engineering services across Bengaluru.</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Quick links: Home · About · Projects · Services · Contact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2026 Shri Lakshmi Constructions &amp; Engineers. All rights reserved. Privacy Policy · Terms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11880" y="1234440"/>
          <a:ext cx="5074920" cy="914400"/>
        </p:xfrm>
        <a:graphic>
          <a:graphicData uri="http://schemas.openxmlformats.org/drawingml/2006/table">
            <a:tbl>
              <a:tblPr/>
              <a:tblGrid>
                <a:gridCol w="822960"/>
                <a:gridCol w="1874520"/>
                <a:gridCol w="237744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Page</a:t>
                      </a:r>
                      <a:endParaRPr lang="en-US" sz="11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solidFill>
                      <a:srgbClr val="6A45A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Page title (under 60 characters)</a:t>
                      </a:r>
                      <a:endParaRPr lang="en-US" sz="11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solidFill>
                      <a:srgbClr val="6A45A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Meta description</a:t>
                      </a:r>
                      <a:endParaRPr lang="en-US" sz="11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solidFill>
                      <a:srgbClr val="6A45A6"/>
                    </a:solidFill>
                  </a:tcPr>
                </a:tc>
              </a:tr>
              <a:tr h="5029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Home</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Shri Lakshmi Constructions | Builders in Bengaluru</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Trusted builders and engineers in Banashankari, Bengaluru. Homes and commercial projects delivered on time.</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r>
              <a:tr h="5029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About Us</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About Us | Shri Lakshmi Constructions</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Meet the engineers behind Shri Lakshmi: our story, vision and commitment to quality.</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r>
              <a:tr h="5029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Projects</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Our Projects in Bengaluru | Shri Lakshmi</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Explore ongoing, completed and upcoming residential and commercial projects.</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r>
              <a:tr h="5029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Services</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Construction Services in Bengaluru | Shri Lakshmi</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Residential, commercial, turnkey, renovation, interiors and structural design.</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r>
              <a:tr h="50292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Contact Us</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Contact Shri Lakshmi Constructions, Banashankari</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Call +91 8147573925 or visit our Banashankari office for a free consultation.</a:t>
                      </a:r>
                      <a:endParaRPr lang="en-US" sz="1000" dirty="0">
                        <a:latin typeface="Calibri" charset="0"/>
                        <a:ea typeface="Calibri" charset="0"/>
                        <a:cs typeface="Calibri" charset="0"/>
                      </a:endParaRPr>
                    </a:p>
                  </a:txBody>
                  <a:tcPr marL="91440" marR="91440" marT="45720" marB="45720" anchor="ctr">
                    <a:lnL w="6350" cap="flat" cmpd="sng" algn="ctr">
                      <a:solidFill>
                        <a:srgbClr val="D9D2EA"/>
                      </a:solidFill>
                      <a:prstDash val="solid"/>
                      <a:round/>
                      <a:headEnd type="none" w="med" len="med"/>
                      <a:tailEnd type="none" w="med" len="med"/>
                    </a:lnL>
                    <a:lnR w="6350" cap="flat" cmpd="sng" algn="ctr">
                      <a:solidFill>
                        <a:srgbClr val="D9D2EA"/>
                      </a:solidFill>
                      <a:prstDash val="solid"/>
                      <a:round/>
                      <a:headEnd type="none" w="med" len="med"/>
                      <a:tailEnd type="none" w="med" len="med"/>
                    </a:lnR>
                    <a:lnT w="6350" cap="flat" cmpd="sng" algn="ctr">
                      <a:solidFill>
                        <a:srgbClr val="D9D2EA"/>
                      </a:solidFill>
                      <a:prstDash val="solid"/>
                      <a:round/>
                      <a:headEnd type="none" w="med" len="med"/>
                      <a:tailEnd type="none" w="med" len="med"/>
                    </a:lnT>
                    <a:lnB w="6350" cap="flat" cmpd="sng" algn="ctr">
                      <a:solidFill>
                        <a:srgbClr val="D9D2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046720" cy="914400"/>
          </a:xfrm>
          <a:prstGeom prst="rect">
            <a:avLst/>
          </a:prstGeom>
          <a:noFill/>
          <a:ln/>
        </p:spPr>
        <p:txBody>
          <a:bodyPr wrap="square" lIns="0" tIns="0" rIns="0" bIns="0" rtlCol="0" anchor="t"/>
          <a:lstStyle/>
          <a:p>
            <a:pPr algn="l" indent="0" marL="0">
              <a:buNone/>
            </a:pPr>
            <a:r>
              <a:rPr lang="en-US" sz="3400" b="1" dirty="0">
                <a:solidFill>
                  <a:schemeClr val="bg1"/>
                </a:solidFill>
                <a:latin typeface="Arial" pitchFamily="34" charset="0"/>
                <a:ea typeface="Arial" pitchFamily="34" charset="-122"/>
                <a:cs typeface="Arial" pitchFamily="34" charset="-120"/>
              </a:rPr>
              <a:t>Before the site goes live</a:t>
            </a:r>
            <a:endParaRPr lang="en-US" sz="3400" dirty="0"/>
          </a:p>
        </p:txBody>
      </p:sp>
      <p:sp>
        <p:nvSpPr>
          <p:cNvPr id="3" name="Text 1"/>
          <p:cNvSpPr txBox="1"/>
          <p:nvPr/>
        </p:nvSpPr>
        <p:spPr>
          <a:xfrm>
            <a:off x="548640" y="2651760"/>
            <a:ext cx="8046720" cy="320040"/>
          </a:xfrm>
          <a:prstGeom prst="rect">
            <a:avLst/>
          </a:prstGeom>
          <a:noFill/>
          <a:ln/>
        </p:spPr>
        <p:txBody>
          <a:bodyPr wrap="square" lIns="0" tIns="0" rIns="0" bIns="0" rtlCol="0" anchor="t"/>
          <a:lstStyle/>
          <a:p>
            <a:pPr indent="0" marL="0">
              <a:buNone/>
            </a:pPr>
            <a:r>
              <a:rPr lang="en-US" sz="1400" dirty="0">
                <a:solidFill>
                  <a:srgbClr val="F1ECFA"/>
                </a:solidFill>
                <a:latin typeface="Calibri" pitchFamily="34" charset="0"/>
                <a:ea typeface="Calibri" pitchFamily="34" charset="-122"/>
                <a:cs typeface="Calibri" pitchFamily="34" charset="-120"/>
              </a:rPr>
              <a:t>Text in orange brackets needs the client’s real details:</a:t>
            </a:r>
            <a:endParaRPr lang="en-US" sz="1400" dirty="0"/>
          </a:p>
        </p:txBody>
      </p:sp>
      <p:sp>
        <p:nvSpPr>
          <p:cNvPr id="4" name="Text 2"/>
          <p:cNvSpPr txBox="1"/>
          <p:nvPr/>
        </p:nvSpPr>
        <p:spPr>
          <a:xfrm>
            <a:off x="548640" y="3017520"/>
            <a:ext cx="8046720" cy="16459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Years in business and number of projects or families</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Project list with names, localities, status and photos</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2–3 client testimonials with permission</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Founder name, photo and message (optional)</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RERA and approval numbers where applicable</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Typical construction timelines and office hours</a:t>
            </a:r>
            <a:endParaRPr lang="en-US" sz="1300" dirty="0"/>
          </a:p>
        </p:txBody>
      </p:sp>
      <p:sp>
        <p:nvSpPr>
          <p:cNvPr id="5" name="logocard2"/>
          <p:cNvSpPr/>
          <p:nvPr/>
        </p:nvSpPr>
        <p:spPr>
          <a:xfrm>
            <a:off x="7406640" y="457200"/>
            <a:ext cx="1188720" cy="1188720"/>
          </a:xfrm>
          <a:prstGeom prst="roundRect">
            <a:avLst>
              <a:gd name="adj" fmla="val 6154"/>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479792" y="502920"/>
            <a:ext cx="1042416" cy="1097280"/>
          </a:xfrm>
          <a:prstGeom prst="rect">
            <a:avLst/>
          </a:prstGeom>
        </p:spPr>
      </p:pic>
    </p:spTree>
  </p:cSld>
  <p:clrMapOvr>
    <a:masterClrMapping/>
  </p:clrMapOvr>
</p:sld>
</file>

<file path=ppt/theme/theme1.xml><?xml version="1.0" encoding="utf-8"?>
<a:theme xmlns:a="http://schemas.openxmlformats.org/drawingml/2006/main" name="Shri Lakshmi">
  <a:themeElements>
    <a:clrScheme name="Shri Lakshmi">
      <a:dk1>
        <a:srgbClr val="1F2937"/>
      </a:dk1>
      <a:lt1>
        <a:srgbClr val="FFFFFF"/>
      </a:lt1>
      <a:dk2>
        <a:srgbClr val="1F1F5C"/>
      </a:dk2>
      <a:lt2>
        <a:srgbClr val="F4F1FA"/>
      </a:lt2>
      <a:accent1>
        <a:srgbClr val="6A45A6"/>
      </a:accent1>
      <a:accent2>
        <a:srgbClr val="2D52A9"/>
      </a:accent2>
      <a:accent3>
        <a:srgbClr val="9C6ABB"/>
      </a:accent3>
      <a:accent4>
        <a:srgbClr val="1F1F5C"/>
      </a:accent4>
      <a:accent5>
        <a:srgbClr val="6B7280"/>
      </a:accent5>
      <a:accent6>
        <a:srgbClr val="C2410C"/>
      </a:accent6>
      <a:hlink>
        <a:srgbClr val="2D52A9"/>
      </a:hlink>
      <a:folHlink>
        <a:srgbClr val="6B7280"/>
      </a:folHlink>
    </a:clrScheme>
    <a:fontScheme name="Shri Lakshm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Shri Lakshmi Constructions &amp; Engineers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Shri Lakshmi Constructions - Website Content</dc:title>
  <dc:subject>PptxGenJS Presentation</dc:subject>
  <dc:creator>Manasa Venkatram</dc:creator>
  <cp:lastModifiedBy>Manasa Venkatram</cp:lastModifiedBy>
  <cp:revision>1</cp:revision>
  <dcterms:created xsi:type="dcterms:W3CDTF">2026-10-07T14:01:03Z</dcterms:created>
  <dcterms:modified xsi:type="dcterms:W3CDTF">2026-10-07T14:01:03Z</dcterms:modified>
</cp:coreProperties>
</file>